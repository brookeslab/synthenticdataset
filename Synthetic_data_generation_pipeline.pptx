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5" r:id="rId11"/>
    <p:sldId id="277" r:id="rId12"/>
    <p:sldId id="296" r:id="rId13"/>
    <p:sldId id="268" r:id="rId14"/>
    <p:sldId id="280" r:id="rId15"/>
    <p:sldId id="295" r:id="rId16"/>
    <p:sldId id="297" r:id="rId17"/>
    <p:sldId id="284" r:id="rId18"/>
    <p:sldId id="288" r:id="rId19"/>
    <p:sldId id="285" r:id="rId20"/>
    <p:sldId id="289" r:id="rId21"/>
    <p:sldId id="286" r:id="rId22"/>
    <p:sldId id="270" r:id="rId23"/>
    <p:sldId id="279" r:id="rId24"/>
    <p:sldId id="292" r:id="rId25"/>
    <p:sldId id="293" r:id="rId26"/>
    <p:sldId id="294" r:id="rId27"/>
    <p:sldId id="2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" dt="2026-09-16T23:50:44.423"/>
    <p1510:client id="{26B81792-D046-3F1A-1136-50865F6449E7}" v="41" dt="2026-09-16T20:22:12.662"/>
    <p1510:client id="{E362F2CC-1927-14AE-B111-21E61BA9947B}" v="195" dt="2026-09-16T21:26:39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93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8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7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2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2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5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3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2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5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00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1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5DA1D8-E874-4205-B6D5-557E0C07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A4C90-41A1-7CBA-4948-D46480A97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71" r="-2" b="-2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712609" y="3740816"/>
                </a:moveTo>
                <a:cubicBezTo>
                  <a:pt x="5738974" y="3758821"/>
                  <a:pt x="5765337" y="3776826"/>
                  <a:pt x="5791702" y="3794831"/>
                </a:cubicBezTo>
                <a:cubicBezTo>
                  <a:pt x="5776911" y="3790330"/>
                  <a:pt x="5760836" y="3785829"/>
                  <a:pt x="5745403" y="3781327"/>
                </a:cubicBezTo>
                <a:cubicBezTo>
                  <a:pt x="5732542" y="3770394"/>
                  <a:pt x="5719038" y="3760108"/>
                  <a:pt x="5706178" y="3748531"/>
                </a:cubicBezTo>
                <a:cubicBezTo>
                  <a:pt x="5708106" y="3745959"/>
                  <a:pt x="5710678" y="3743389"/>
                  <a:pt x="5712609" y="3740816"/>
                </a:cubicBezTo>
                <a:close/>
                <a:moveTo>
                  <a:pt x="6185882" y="2838635"/>
                </a:moveTo>
                <a:cubicBezTo>
                  <a:pt x="6344070" y="2946665"/>
                  <a:pt x="6502257" y="3055338"/>
                  <a:pt x="6660444" y="3163369"/>
                </a:cubicBezTo>
                <a:cubicBezTo>
                  <a:pt x="6657871" y="3165941"/>
                  <a:pt x="6655942" y="3168513"/>
                  <a:pt x="6653370" y="3171086"/>
                </a:cubicBezTo>
                <a:cubicBezTo>
                  <a:pt x="6479751" y="3079774"/>
                  <a:pt x="6315776" y="2978175"/>
                  <a:pt x="6185882" y="2838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164490"/>
                </a:lnTo>
                <a:lnTo>
                  <a:pt x="11988395" y="3196744"/>
                </a:lnTo>
                <a:cubicBezTo>
                  <a:pt x="11473771" y="3266864"/>
                  <a:pt x="10861963" y="3302908"/>
                  <a:pt x="10185568" y="3253395"/>
                </a:cubicBezTo>
                <a:cubicBezTo>
                  <a:pt x="10116120" y="3248250"/>
                  <a:pt x="10050531" y="3245034"/>
                  <a:pt x="9983655" y="3242463"/>
                </a:cubicBezTo>
                <a:cubicBezTo>
                  <a:pt x="9392061" y="3216097"/>
                  <a:pt x="8811401" y="3203236"/>
                  <a:pt x="8566404" y="3171728"/>
                </a:cubicBezTo>
                <a:cubicBezTo>
                  <a:pt x="8374779" y="3146650"/>
                  <a:pt x="7394792" y="2934448"/>
                  <a:pt x="7107354" y="2755040"/>
                </a:cubicBezTo>
                <a:cubicBezTo>
                  <a:pt x="6813486" y="2571132"/>
                  <a:pt x="6536339" y="2367932"/>
                  <a:pt x="6260475" y="2164090"/>
                </a:cubicBezTo>
                <a:cubicBezTo>
                  <a:pt x="6140870" y="2075993"/>
                  <a:pt x="6013549" y="1995614"/>
                  <a:pt x="5905518" y="1894658"/>
                </a:cubicBezTo>
                <a:cubicBezTo>
                  <a:pt x="5797490" y="1793059"/>
                  <a:pt x="5694605" y="1687600"/>
                  <a:pt x="5577572" y="1593717"/>
                </a:cubicBezTo>
                <a:cubicBezTo>
                  <a:pt x="5544133" y="1566709"/>
                  <a:pt x="5510696" y="1537773"/>
                  <a:pt x="5461824" y="1533271"/>
                </a:cubicBezTo>
                <a:cubicBezTo>
                  <a:pt x="5450893" y="1531985"/>
                  <a:pt x="5439318" y="1532628"/>
                  <a:pt x="5428386" y="1533913"/>
                </a:cubicBezTo>
                <a:cubicBezTo>
                  <a:pt x="5416169" y="1535200"/>
                  <a:pt x="5406523" y="1541630"/>
                  <a:pt x="5402021" y="1552562"/>
                </a:cubicBezTo>
                <a:cubicBezTo>
                  <a:pt x="5397521" y="1564781"/>
                  <a:pt x="5405238" y="1571853"/>
                  <a:pt x="5414239" y="1578283"/>
                </a:cubicBezTo>
                <a:cubicBezTo>
                  <a:pt x="5420670" y="1582785"/>
                  <a:pt x="5427099" y="1589859"/>
                  <a:pt x="5435459" y="1591144"/>
                </a:cubicBezTo>
                <a:cubicBezTo>
                  <a:pt x="5488833" y="1598861"/>
                  <a:pt x="5508766" y="1638086"/>
                  <a:pt x="5533844" y="1672809"/>
                </a:cubicBezTo>
                <a:cubicBezTo>
                  <a:pt x="5544776" y="1687600"/>
                  <a:pt x="5556350" y="1699175"/>
                  <a:pt x="5536417" y="1720394"/>
                </a:cubicBezTo>
                <a:cubicBezTo>
                  <a:pt x="5519055" y="1739042"/>
                  <a:pt x="5537059" y="1748689"/>
                  <a:pt x="5555063" y="1753834"/>
                </a:cubicBezTo>
                <a:cubicBezTo>
                  <a:pt x="5580142" y="1760906"/>
                  <a:pt x="5609722" y="1759621"/>
                  <a:pt x="5638015" y="1782770"/>
                </a:cubicBezTo>
                <a:cubicBezTo>
                  <a:pt x="5531915" y="1784699"/>
                  <a:pt x="5486902" y="1723611"/>
                  <a:pt x="5438676" y="1667022"/>
                </a:cubicBezTo>
                <a:cubicBezTo>
                  <a:pt x="5420670" y="1646446"/>
                  <a:pt x="5408453" y="1622010"/>
                  <a:pt x="5393019" y="1598861"/>
                </a:cubicBezTo>
                <a:cubicBezTo>
                  <a:pt x="5373728" y="1570568"/>
                  <a:pt x="5351221" y="1569281"/>
                  <a:pt x="5322928" y="1594359"/>
                </a:cubicBezTo>
                <a:cubicBezTo>
                  <a:pt x="5297850" y="1616865"/>
                  <a:pt x="5285633" y="1614937"/>
                  <a:pt x="5277274" y="1584070"/>
                </a:cubicBezTo>
                <a:cubicBezTo>
                  <a:pt x="5264412" y="1535843"/>
                  <a:pt x="5234831" y="1501763"/>
                  <a:pt x="5184674" y="1484401"/>
                </a:cubicBezTo>
                <a:cubicBezTo>
                  <a:pt x="5179209" y="1482471"/>
                  <a:pt x="5173101" y="1479417"/>
                  <a:pt x="5167072" y="1478372"/>
                </a:cubicBezTo>
                <a:cubicBezTo>
                  <a:pt x="5161044" y="1477327"/>
                  <a:pt x="5155097" y="1478292"/>
                  <a:pt x="5149951" y="1484401"/>
                </a:cubicBezTo>
                <a:cubicBezTo>
                  <a:pt x="5140950" y="1494688"/>
                  <a:pt x="5148664" y="1506907"/>
                  <a:pt x="5155097" y="1515909"/>
                </a:cubicBezTo>
                <a:cubicBezTo>
                  <a:pt x="5166670" y="1531985"/>
                  <a:pt x="5176959" y="1547417"/>
                  <a:pt x="5181461" y="1566709"/>
                </a:cubicBezTo>
                <a:cubicBezTo>
                  <a:pt x="5184674" y="1579570"/>
                  <a:pt x="5187891" y="1593717"/>
                  <a:pt x="5178887" y="1603361"/>
                </a:cubicBezTo>
                <a:cubicBezTo>
                  <a:pt x="5141592" y="1644516"/>
                  <a:pt x="5168600" y="1663807"/>
                  <a:pt x="5200752" y="1685671"/>
                </a:cubicBezTo>
                <a:cubicBezTo>
                  <a:pt x="5245120" y="1715251"/>
                  <a:pt x="5262482" y="1758976"/>
                  <a:pt x="5252195" y="1811063"/>
                </a:cubicBezTo>
                <a:cubicBezTo>
                  <a:pt x="5248335" y="1832284"/>
                  <a:pt x="5250909" y="1845143"/>
                  <a:pt x="5277274" y="1844501"/>
                </a:cubicBezTo>
                <a:cubicBezTo>
                  <a:pt x="5287560" y="1844501"/>
                  <a:pt x="5290133" y="1851575"/>
                  <a:pt x="5293993" y="1859290"/>
                </a:cubicBezTo>
                <a:cubicBezTo>
                  <a:pt x="5376299" y="2041270"/>
                  <a:pt x="5495262" y="2200743"/>
                  <a:pt x="5634802" y="2347356"/>
                </a:cubicBezTo>
                <a:cubicBezTo>
                  <a:pt x="5747976" y="2466318"/>
                  <a:pt x="5872725" y="2573704"/>
                  <a:pt x="6001975" y="2677877"/>
                </a:cubicBezTo>
                <a:cubicBezTo>
                  <a:pt x="6005832" y="2681092"/>
                  <a:pt x="6009691" y="2684949"/>
                  <a:pt x="6011621" y="2691379"/>
                </a:cubicBezTo>
                <a:cubicBezTo>
                  <a:pt x="5950533" y="2678520"/>
                  <a:pt x="5897804" y="2652154"/>
                  <a:pt x="5847002" y="2622575"/>
                </a:cubicBezTo>
                <a:cubicBezTo>
                  <a:pt x="5711965" y="2544125"/>
                  <a:pt x="5598147" y="2442525"/>
                  <a:pt x="5483045" y="2342854"/>
                </a:cubicBezTo>
                <a:cubicBezTo>
                  <a:pt x="5412953" y="2281765"/>
                  <a:pt x="5340933" y="2222606"/>
                  <a:pt x="5263769" y="2168592"/>
                </a:cubicBezTo>
                <a:cubicBezTo>
                  <a:pt x="5250909" y="2159588"/>
                  <a:pt x="5241905" y="2148014"/>
                  <a:pt x="5232904" y="2136439"/>
                </a:cubicBezTo>
                <a:cubicBezTo>
                  <a:pt x="5227759" y="2130010"/>
                  <a:pt x="5221329" y="2124222"/>
                  <a:pt x="5211040" y="2126795"/>
                </a:cubicBezTo>
                <a:cubicBezTo>
                  <a:pt x="5198180" y="2130010"/>
                  <a:pt x="5196893" y="2139654"/>
                  <a:pt x="5195606" y="2149301"/>
                </a:cubicBezTo>
                <a:cubicBezTo>
                  <a:pt x="5191749" y="2180166"/>
                  <a:pt x="5200108" y="2207817"/>
                  <a:pt x="5216185" y="2234181"/>
                </a:cubicBezTo>
                <a:cubicBezTo>
                  <a:pt x="5257983" y="2301699"/>
                  <a:pt x="5319713" y="2353786"/>
                  <a:pt x="5383373" y="2403300"/>
                </a:cubicBezTo>
                <a:cubicBezTo>
                  <a:pt x="5465682" y="2466961"/>
                  <a:pt x="5545418" y="2533193"/>
                  <a:pt x="5618083" y="2605857"/>
                </a:cubicBezTo>
                <a:cubicBezTo>
                  <a:pt x="5623226" y="2611001"/>
                  <a:pt x="5632871" y="2614216"/>
                  <a:pt x="5629656" y="2629005"/>
                </a:cubicBezTo>
                <a:cubicBezTo>
                  <a:pt x="5584001" y="2594925"/>
                  <a:pt x="5540917" y="2561487"/>
                  <a:pt x="5497192" y="2529334"/>
                </a:cubicBezTo>
                <a:cubicBezTo>
                  <a:pt x="5454108" y="2497183"/>
                  <a:pt x="5410380" y="2465031"/>
                  <a:pt x="5367298" y="2433523"/>
                </a:cubicBezTo>
                <a:cubicBezTo>
                  <a:pt x="5357008" y="2425806"/>
                  <a:pt x="5346076" y="2414874"/>
                  <a:pt x="5331288" y="2424520"/>
                </a:cubicBezTo>
                <a:cubicBezTo>
                  <a:pt x="5315856" y="2434165"/>
                  <a:pt x="5317785" y="2450242"/>
                  <a:pt x="5321643" y="2463101"/>
                </a:cubicBezTo>
                <a:cubicBezTo>
                  <a:pt x="5333859" y="2501041"/>
                  <a:pt x="5355081" y="2534479"/>
                  <a:pt x="5383373" y="2564059"/>
                </a:cubicBezTo>
                <a:cubicBezTo>
                  <a:pt x="5479829" y="2661801"/>
                  <a:pt x="5591073" y="2746038"/>
                  <a:pt x="5694605" y="2837349"/>
                </a:cubicBezTo>
                <a:cubicBezTo>
                  <a:pt x="5750548" y="2886864"/>
                  <a:pt x="5801990" y="2939593"/>
                  <a:pt x="5850861" y="2994249"/>
                </a:cubicBezTo>
                <a:cubicBezTo>
                  <a:pt x="5861793" y="3006469"/>
                  <a:pt x="5861149" y="3018043"/>
                  <a:pt x="5857934" y="3032189"/>
                </a:cubicBezTo>
                <a:cubicBezTo>
                  <a:pt x="5845076" y="3089421"/>
                  <a:pt x="5865008" y="3108711"/>
                  <a:pt x="5929311" y="3097780"/>
                </a:cubicBezTo>
                <a:cubicBezTo>
                  <a:pt x="5949246" y="3094563"/>
                  <a:pt x="5962750" y="3097780"/>
                  <a:pt x="5974966" y="3111282"/>
                </a:cubicBezTo>
                <a:cubicBezTo>
                  <a:pt x="6122866" y="3278472"/>
                  <a:pt x="6297771" y="3419297"/>
                  <a:pt x="6488753" y="3544689"/>
                </a:cubicBezTo>
                <a:cubicBezTo>
                  <a:pt x="6566560" y="3595488"/>
                  <a:pt x="6646940" y="3643718"/>
                  <a:pt x="6728605" y="3688730"/>
                </a:cubicBezTo>
                <a:cubicBezTo>
                  <a:pt x="6728605" y="3691945"/>
                  <a:pt x="6728605" y="3695804"/>
                  <a:pt x="6728605" y="3699019"/>
                </a:cubicBezTo>
                <a:cubicBezTo>
                  <a:pt x="6727962" y="3703519"/>
                  <a:pt x="6727320" y="3706091"/>
                  <a:pt x="6726677" y="3709950"/>
                </a:cubicBezTo>
                <a:cubicBezTo>
                  <a:pt x="6611573" y="3640502"/>
                  <a:pt x="6497754" y="3569125"/>
                  <a:pt x="6386510" y="3493890"/>
                </a:cubicBezTo>
                <a:cubicBezTo>
                  <a:pt x="6084927" y="3290048"/>
                  <a:pt x="5796845" y="3071415"/>
                  <a:pt x="5504264" y="2857926"/>
                </a:cubicBezTo>
                <a:cubicBezTo>
                  <a:pt x="5405879" y="2785906"/>
                  <a:pt x="5328073" y="2693952"/>
                  <a:pt x="5239333" y="2612929"/>
                </a:cubicBezTo>
                <a:cubicBezTo>
                  <a:pt x="5180174" y="2558915"/>
                  <a:pt x="5123586" y="2502328"/>
                  <a:pt x="5054783" y="2457958"/>
                </a:cubicBezTo>
                <a:cubicBezTo>
                  <a:pt x="5026489" y="2439952"/>
                  <a:pt x="4996909" y="2423876"/>
                  <a:pt x="4958969" y="2428378"/>
                </a:cubicBezTo>
                <a:cubicBezTo>
                  <a:pt x="4944180" y="2430308"/>
                  <a:pt x="4927460" y="2434165"/>
                  <a:pt x="4922316" y="2450884"/>
                </a:cubicBezTo>
                <a:cubicBezTo>
                  <a:pt x="4917814" y="2467603"/>
                  <a:pt x="4931318" y="2475320"/>
                  <a:pt x="4943538" y="2482393"/>
                </a:cubicBezTo>
                <a:cubicBezTo>
                  <a:pt x="4946752" y="2484322"/>
                  <a:pt x="4949967" y="2486895"/>
                  <a:pt x="4953183" y="2486895"/>
                </a:cubicBezTo>
                <a:cubicBezTo>
                  <a:pt x="5014271" y="2490752"/>
                  <a:pt x="5028418" y="2539623"/>
                  <a:pt x="5057355" y="2574991"/>
                </a:cubicBezTo>
                <a:cubicBezTo>
                  <a:pt x="5066357" y="2585923"/>
                  <a:pt x="5066999" y="2596854"/>
                  <a:pt x="5057355" y="2609714"/>
                </a:cubicBezTo>
                <a:cubicBezTo>
                  <a:pt x="5039991" y="2632863"/>
                  <a:pt x="5052210" y="2643152"/>
                  <a:pt x="5075359" y="2649582"/>
                </a:cubicBezTo>
                <a:cubicBezTo>
                  <a:pt x="5098507" y="2656013"/>
                  <a:pt x="5123586" y="2657941"/>
                  <a:pt x="5148664" y="2672732"/>
                </a:cubicBezTo>
                <a:cubicBezTo>
                  <a:pt x="5108797" y="2684949"/>
                  <a:pt x="5081147" y="2672090"/>
                  <a:pt x="5055425" y="2656013"/>
                </a:cubicBezTo>
                <a:cubicBezTo>
                  <a:pt x="4997552" y="2620646"/>
                  <a:pt x="4960257" y="2568559"/>
                  <a:pt x="4924888" y="2515188"/>
                </a:cubicBezTo>
                <a:cubicBezTo>
                  <a:pt x="4917814" y="2504899"/>
                  <a:pt x="4912027" y="2493324"/>
                  <a:pt x="4902382" y="2484965"/>
                </a:cubicBezTo>
                <a:cubicBezTo>
                  <a:pt x="4884376" y="2468246"/>
                  <a:pt x="4865085" y="2466318"/>
                  <a:pt x="4843224" y="2486895"/>
                </a:cubicBezTo>
                <a:cubicBezTo>
                  <a:pt x="4814285" y="2513902"/>
                  <a:pt x="4803998" y="2511973"/>
                  <a:pt x="4794352" y="2477250"/>
                </a:cubicBezTo>
                <a:cubicBezTo>
                  <a:pt x="4781490" y="2430308"/>
                  <a:pt x="4752554" y="2397512"/>
                  <a:pt x="4703040" y="2380151"/>
                </a:cubicBezTo>
                <a:cubicBezTo>
                  <a:pt x="4692753" y="2376292"/>
                  <a:pt x="4681821" y="2371147"/>
                  <a:pt x="4670890" y="2379507"/>
                </a:cubicBezTo>
                <a:cubicBezTo>
                  <a:pt x="4659315" y="2389153"/>
                  <a:pt x="4667030" y="2398798"/>
                  <a:pt x="4671532" y="2407802"/>
                </a:cubicBezTo>
                <a:cubicBezTo>
                  <a:pt x="4677962" y="2421948"/>
                  <a:pt x="4685679" y="2436095"/>
                  <a:pt x="4691466" y="2450884"/>
                </a:cubicBezTo>
                <a:cubicBezTo>
                  <a:pt x="4701755" y="2474677"/>
                  <a:pt x="4703685" y="2499756"/>
                  <a:pt x="4684393" y="2522904"/>
                </a:cubicBezTo>
                <a:cubicBezTo>
                  <a:pt x="4670245" y="2539623"/>
                  <a:pt x="4671532" y="2550555"/>
                  <a:pt x="4690181" y="2562130"/>
                </a:cubicBezTo>
                <a:cubicBezTo>
                  <a:pt x="4749983" y="2598140"/>
                  <a:pt x="4787922" y="2645081"/>
                  <a:pt x="4767344" y="2718387"/>
                </a:cubicBezTo>
                <a:cubicBezTo>
                  <a:pt x="4764130" y="2728676"/>
                  <a:pt x="4767988" y="2738965"/>
                  <a:pt x="4780205" y="2738321"/>
                </a:cubicBezTo>
                <a:cubicBezTo>
                  <a:pt x="4807214" y="2736393"/>
                  <a:pt x="4811713" y="2753112"/>
                  <a:pt x="4819430" y="2770474"/>
                </a:cubicBezTo>
                <a:cubicBezTo>
                  <a:pt x="4894666" y="2937020"/>
                  <a:pt x="5003339" y="3082346"/>
                  <a:pt x="5128730" y="3218670"/>
                </a:cubicBezTo>
                <a:cubicBezTo>
                  <a:pt x="5252837" y="3353709"/>
                  <a:pt x="5392376" y="3474599"/>
                  <a:pt x="5540917" y="3590345"/>
                </a:cubicBezTo>
                <a:cubicBezTo>
                  <a:pt x="5499119" y="3586487"/>
                  <a:pt x="5445104" y="3562695"/>
                  <a:pt x="5393019" y="3535044"/>
                </a:cubicBezTo>
                <a:cubicBezTo>
                  <a:pt x="5255410" y="3461095"/>
                  <a:pt x="5142235" y="3360781"/>
                  <a:pt x="5027131" y="3262397"/>
                </a:cubicBezTo>
                <a:cubicBezTo>
                  <a:pt x="4946752" y="3193592"/>
                  <a:pt x="4868302" y="3122858"/>
                  <a:pt x="4778275" y="3063697"/>
                </a:cubicBezTo>
                <a:cubicBezTo>
                  <a:pt x="4767988" y="3057268"/>
                  <a:pt x="4760914" y="3048908"/>
                  <a:pt x="4755127" y="3038619"/>
                </a:cubicBezTo>
                <a:cubicBezTo>
                  <a:pt x="4749983" y="3029617"/>
                  <a:pt x="4742265" y="3021258"/>
                  <a:pt x="4728763" y="3025115"/>
                </a:cubicBezTo>
                <a:cubicBezTo>
                  <a:pt x="4715259" y="3029617"/>
                  <a:pt x="4713973" y="3041192"/>
                  <a:pt x="4713973" y="3051481"/>
                </a:cubicBezTo>
                <a:cubicBezTo>
                  <a:pt x="4715902" y="3090063"/>
                  <a:pt x="4726833" y="3124786"/>
                  <a:pt x="4750625" y="3155652"/>
                </a:cubicBezTo>
                <a:cubicBezTo>
                  <a:pt x="4796924" y="3217385"/>
                  <a:pt x="4858656" y="3265612"/>
                  <a:pt x="4920386" y="3313839"/>
                </a:cubicBezTo>
                <a:cubicBezTo>
                  <a:pt x="5005911" y="3380072"/>
                  <a:pt x="5085005" y="3452092"/>
                  <a:pt x="5156382" y="3532472"/>
                </a:cubicBezTo>
                <a:cubicBezTo>
                  <a:pt x="5104940" y="3493247"/>
                  <a:pt x="5053495" y="3453378"/>
                  <a:pt x="5001409" y="3414153"/>
                </a:cubicBezTo>
                <a:cubicBezTo>
                  <a:pt x="4962184" y="3384574"/>
                  <a:pt x="4921673" y="3356279"/>
                  <a:pt x="4881806" y="3327343"/>
                </a:cubicBezTo>
                <a:cubicBezTo>
                  <a:pt x="4872159" y="3320270"/>
                  <a:pt x="4861870" y="3312554"/>
                  <a:pt x="4848368" y="3322198"/>
                </a:cubicBezTo>
                <a:cubicBezTo>
                  <a:pt x="4836149" y="3330558"/>
                  <a:pt x="4838079" y="3342777"/>
                  <a:pt x="4840652" y="3354351"/>
                </a:cubicBezTo>
                <a:cubicBezTo>
                  <a:pt x="4850297" y="3400006"/>
                  <a:pt x="4877304" y="3436659"/>
                  <a:pt x="4910742" y="3469454"/>
                </a:cubicBezTo>
                <a:cubicBezTo>
                  <a:pt x="4951252" y="3508679"/>
                  <a:pt x="4993695" y="3545976"/>
                  <a:pt x="5037419" y="3583272"/>
                </a:cubicBezTo>
                <a:cubicBezTo>
                  <a:pt x="4990479" y="3572983"/>
                  <a:pt x="4943538" y="3562695"/>
                  <a:pt x="4896595" y="3554336"/>
                </a:cubicBezTo>
                <a:cubicBezTo>
                  <a:pt x="4917814" y="3628927"/>
                  <a:pt x="4967328" y="3643718"/>
                  <a:pt x="5011699" y="3655292"/>
                </a:cubicBezTo>
                <a:cubicBezTo>
                  <a:pt x="5071502" y="3670081"/>
                  <a:pt x="5128730" y="3688730"/>
                  <a:pt x="5185319" y="3709950"/>
                </a:cubicBezTo>
                <a:cubicBezTo>
                  <a:pt x="5209111" y="3731170"/>
                  <a:pt x="5232904" y="3751748"/>
                  <a:pt x="5256052" y="3773610"/>
                </a:cubicBezTo>
                <a:cubicBezTo>
                  <a:pt x="5279845" y="3796118"/>
                  <a:pt x="5302352" y="3818624"/>
                  <a:pt x="5324859" y="3842415"/>
                </a:cubicBezTo>
                <a:cubicBezTo>
                  <a:pt x="5340933" y="3859776"/>
                  <a:pt x="5360224" y="3874568"/>
                  <a:pt x="5341576" y="3904146"/>
                </a:cubicBezTo>
                <a:cubicBezTo>
                  <a:pt x="5333217" y="3917650"/>
                  <a:pt x="5387873" y="3990958"/>
                  <a:pt x="5405238" y="3995458"/>
                </a:cubicBezTo>
                <a:cubicBezTo>
                  <a:pt x="5407809" y="3996100"/>
                  <a:pt x="5410380" y="3996745"/>
                  <a:pt x="5412310" y="3996745"/>
                </a:cubicBezTo>
                <a:cubicBezTo>
                  <a:pt x="5449607" y="3994173"/>
                  <a:pt x="5457967" y="4016036"/>
                  <a:pt x="5458608" y="4043687"/>
                </a:cubicBezTo>
                <a:cubicBezTo>
                  <a:pt x="5459252" y="4070693"/>
                  <a:pt x="5452823" y="4104131"/>
                  <a:pt x="5503621" y="4090627"/>
                </a:cubicBezTo>
                <a:cubicBezTo>
                  <a:pt x="5509408" y="4089342"/>
                  <a:pt x="5510696" y="4093199"/>
                  <a:pt x="5513266" y="4097701"/>
                </a:cubicBezTo>
                <a:cubicBezTo>
                  <a:pt x="5568568" y="4212804"/>
                  <a:pt x="5661808" y="4301543"/>
                  <a:pt x="5753762" y="4390282"/>
                </a:cubicBezTo>
                <a:cubicBezTo>
                  <a:pt x="5758907" y="4394784"/>
                  <a:pt x="5764052" y="4399285"/>
                  <a:pt x="5769195" y="4403786"/>
                </a:cubicBezTo>
                <a:cubicBezTo>
                  <a:pt x="5672741" y="4381280"/>
                  <a:pt x="5354436" y="4352342"/>
                  <a:pt x="5261196" y="4361989"/>
                </a:cubicBezTo>
                <a:cubicBezTo>
                  <a:pt x="5178245" y="4370349"/>
                  <a:pt x="4709472" y="4230167"/>
                  <a:pt x="4612374" y="4147215"/>
                </a:cubicBezTo>
                <a:cubicBezTo>
                  <a:pt x="4598869" y="4212161"/>
                  <a:pt x="4627806" y="4237882"/>
                  <a:pt x="4650956" y="4267463"/>
                </a:cubicBezTo>
                <a:cubicBezTo>
                  <a:pt x="4683749" y="4309260"/>
                  <a:pt x="4688895" y="4338840"/>
                  <a:pt x="4627162" y="4372278"/>
                </a:cubicBezTo>
                <a:cubicBezTo>
                  <a:pt x="4450327" y="4467447"/>
                  <a:pt x="4452257" y="4470662"/>
                  <a:pt x="4618160" y="4599911"/>
                </a:cubicBezTo>
                <a:cubicBezTo>
                  <a:pt x="4625877" y="4605700"/>
                  <a:pt x="4622019" y="4624347"/>
                  <a:pt x="4623948" y="4637209"/>
                </a:cubicBezTo>
                <a:cubicBezTo>
                  <a:pt x="4580863" y="4656500"/>
                  <a:pt x="4530064" y="4606343"/>
                  <a:pt x="4478622" y="4660357"/>
                </a:cubicBezTo>
                <a:cubicBezTo>
                  <a:pt x="4700468" y="4897637"/>
                  <a:pt x="5038064" y="5123344"/>
                  <a:pt x="5344150" y="5301466"/>
                </a:cubicBezTo>
                <a:cubicBezTo>
                  <a:pt x="5096581" y="5359982"/>
                  <a:pt x="4948037" y="5154210"/>
                  <a:pt x="4766058" y="5180574"/>
                </a:cubicBezTo>
                <a:cubicBezTo>
                  <a:pt x="4675390" y="5244877"/>
                  <a:pt x="4945465" y="5349050"/>
                  <a:pt x="4687609" y="5379273"/>
                </a:cubicBezTo>
                <a:cubicBezTo>
                  <a:pt x="4799496" y="5435860"/>
                  <a:pt x="4882449" y="5491161"/>
                  <a:pt x="4959611" y="5556107"/>
                </a:cubicBezTo>
                <a:cubicBezTo>
                  <a:pt x="5096581" y="5672497"/>
                  <a:pt x="5123586" y="5749662"/>
                  <a:pt x="5060571" y="5905920"/>
                </a:cubicBezTo>
                <a:cubicBezTo>
                  <a:pt x="5018773" y="6008805"/>
                  <a:pt x="4958326" y="6103332"/>
                  <a:pt x="5011699" y="6226152"/>
                </a:cubicBezTo>
                <a:cubicBezTo>
                  <a:pt x="5048351" y="6310389"/>
                  <a:pt x="5034204" y="6365690"/>
                  <a:pt x="4895308" y="6327750"/>
                </a:cubicBezTo>
                <a:cubicBezTo>
                  <a:pt x="4745482" y="6287240"/>
                  <a:pt x="4688895" y="6363118"/>
                  <a:pt x="4726833" y="6510373"/>
                </a:cubicBezTo>
                <a:cubicBezTo>
                  <a:pt x="4751269" y="6604900"/>
                  <a:pt x="4725546" y="6634480"/>
                  <a:pt x="4622661" y="6623548"/>
                </a:cubicBezTo>
                <a:cubicBezTo>
                  <a:pt x="4508843" y="6611330"/>
                  <a:pt x="4400814" y="6549598"/>
                  <a:pt x="4259989" y="6579179"/>
                </a:cubicBezTo>
                <a:cubicBezTo>
                  <a:pt x="4358453" y="6729972"/>
                  <a:pt x="4554892" y="6711403"/>
                  <a:pt x="4690343" y="6814255"/>
                </a:cubicBezTo>
                <a:lnTo>
                  <a:pt x="4735334" y="6858000"/>
                </a:lnTo>
                <a:lnTo>
                  <a:pt x="4496011" y="6858000"/>
                </a:lnTo>
                <a:lnTo>
                  <a:pt x="4440632" y="6851514"/>
                </a:lnTo>
                <a:cubicBezTo>
                  <a:pt x="4410700" y="6846400"/>
                  <a:pt x="4381522" y="6839608"/>
                  <a:pt x="4352585" y="6830605"/>
                </a:cubicBezTo>
                <a:cubicBezTo>
                  <a:pt x="4304358" y="6815816"/>
                  <a:pt x="4251629" y="6801027"/>
                  <a:pt x="4224621" y="6850539"/>
                </a:cubicBezTo>
                <a:lnTo>
                  <a:pt x="422311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en-US" sz="4400"/>
              <a:t>Synthetic Data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 By </a:t>
            </a:r>
            <a:r>
              <a:rPr lang="en-US" sz="2000" err="1"/>
              <a:t>deepthi</a:t>
            </a:r>
            <a:r>
              <a:rPr lang="en-US" sz="2000"/>
              <a:t> </a:t>
            </a:r>
            <a:r>
              <a:rPr lang="en-US" sz="2000" err="1"/>
              <a:t>vettipuzha</a:t>
            </a:r>
            <a:r>
              <a:rPr lang="en-US" sz="2000"/>
              <a:t> </a:t>
            </a:r>
            <a:r>
              <a:rPr lang="en-US" sz="2000" err="1"/>
              <a:t>sukumaran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0111-C705-17C7-1927-B408C64A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Synthetic patient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13B57-B89C-1341-4D59-FA9BDDD11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Century Gothic"/>
                <a:ea typeface="+mn-lt"/>
                <a:cs typeface="+mn-lt"/>
              </a:rPr>
              <a:t>Synthetic data is </a:t>
            </a:r>
            <a:r>
              <a:rPr lang="en-US" b="1">
                <a:latin typeface="Century Gothic"/>
                <a:ea typeface="+mn-lt"/>
                <a:cs typeface="+mn-lt"/>
              </a:rPr>
              <a:t>artificially generated data that mimics real patient data statistically but does not correspond to real individuals</a:t>
            </a:r>
            <a:r>
              <a:rPr lang="en-US">
                <a:latin typeface="Century Gothic"/>
                <a:ea typeface="+mn-lt"/>
                <a:cs typeface="+mn-lt"/>
              </a:rPr>
              <a:t>. </a:t>
            </a:r>
            <a:endParaRPr lang="en-US">
              <a:latin typeface="Century Gothic"/>
            </a:endParaRPr>
          </a:p>
          <a:p>
            <a:r>
              <a:rPr lang="en-US">
                <a:latin typeface="Century Gothic"/>
                <a:ea typeface="+mn-lt"/>
                <a:cs typeface="+mn-lt"/>
              </a:rPr>
              <a:t>It preserves patterns like: </a:t>
            </a:r>
            <a:endParaRPr lang="en-US">
              <a:latin typeface="Century Gothic"/>
            </a:endParaRPr>
          </a:p>
          <a:p>
            <a:pPr lvl="1"/>
            <a:r>
              <a:rPr lang="en-US">
                <a:latin typeface="Century Gothic"/>
                <a:ea typeface="+mn-lt"/>
                <a:cs typeface="+mn-lt"/>
              </a:rPr>
              <a:t>age distributions </a:t>
            </a:r>
            <a:endParaRPr lang="en-US">
              <a:latin typeface="Century Gothic"/>
            </a:endParaRPr>
          </a:p>
          <a:p>
            <a:pPr lvl="1"/>
            <a:r>
              <a:rPr lang="en-US">
                <a:latin typeface="Century Gothic"/>
                <a:ea typeface="+mn-lt"/>
                <a:cs typeface="+mn-lt"/>
              </a:rPr>
              <a:t>disease correlations </a:t>
            </a:r>
            <a:endParaRPr lang="en-US">
              <a:latin typeface="Century Gothic"/>
            </a:endParaRPr>
          </a:p>
          <a:p>
            <a:pPr lvl="1"/>
            <a:r>
              <a:rPr lang="en-US">
                <a:latin typeface="Century Gothic"/>
                <a:ea typeface="+mn-lt"/>
                <a:cs typeface="+mn-lt"/>
              </a:rPr>
              <a:t>treatment pathways </a:t>
            </a:r>
            <a:endParaRPr lang="en-US">
              <a:latin typeface="Century Gothic"/>
            </a:endParaRPr>
          </a:p>
          <a:p>
            <a:r>
              <a:rPr lang="en-US">
                <a:latin typeface="Century Gothic"/>
                <a:ea typeface="+mn-lt"/>
                <a:cs typeface="+mn-lt"/>
              </a:rPr>
              <a:t>But </a:t>
            </a:r>
            <a:r>
              <a:rPr lang="en-US" b="1">
                <a:latin typeface="Century Gothic"/>
                <a:ea typeface="+mn-lt"/>
                <a:cs typeface="+mn-lt"/>
              </a:rPr>
              <a:t>contains no real patient identities or records</a:t>
            </a:r>
            <a:r>
              <a:rPr lang="en-US">
                <a:latin typeface="Century Gothic"/>
                <a:ea typeface="+mn-lt"/>
                <a:cs typeface="+mn-lt"/>
              </a:rPr>
              <a:t> </a:t>
            </a:r>
            <a:endParaRPr lang="en-US">
              <a:latin typeface="Century Gothic"/>
            </a:endParaRPr>
          </a:p>
          <a:p>
            <a:r>
              <a:rPr lang="en-US">
                <a:latin typeface="Century Gothic"/>
                <a:ea typeface="+mn-lt"/>
                <a:cs typeface="+mn-lt"/>
              </a:rPr>
              <a:t>👉 Key idea:</a:t>
            </a:r>
            <a:br>
              <a:rPr lang="en-US">
                <a:ea typeface="+mn-lt"/>
                <a:cs typeface="+mn-lt"/>
              </a:rPr>
            </a:br>
            <a:r>
              <a:rPr lang="en-US">
                <a:latin typeface="Century Gothic"/>
                <a:ea typeface="+mn-lt"/>
                <a:cs typeface="+mn-lt"/>
              </a:rPr>
              <a:t> It’s </a:t>
            </a:r>
            <a:r>
              <a:rPr lang="en-US" b="1">
                <a:latin typeface="Century Gothic"/>
                <a:ea typeface="+mn-lt"/>
                <a:cs typeface="+mn-lt"/>
              </a:rPr>
              <a:t>statistically realistic, not literally copied</a:t>
            </a:r>
            <a:endParaRPr lang="en-US">
              <a:latin typeface="Century Gothic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83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7BC7-B911-D900-D84B-E06AD691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Ways to generate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136C-9312-4BDA-0728-730D593E0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A. From real patient records (most common)</a:t>
            </a:r>
          </a:p>
          <a:p>
            <a:pPr lvl="1"/>
            <a:r>
              <a:rPr lang="en-US">
                <a:ea typeface="+mn-lt"/>
                <a:cs typeface="+mn-lt"/>
              </a:rPr>
              <a:t>Train a model on real data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Learn distributions + relationships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Generate new synthetic records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This produces </a:t>
            </a:r>
            <a:r>
              <a:rPr lang="en-US" b="1">
                <a:ea typeface="+mn-lt"/>
                <a:cs typeface="+mn-lt"/>
              </a:rPr>
              <a:t>high-quality, realistic datasets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/>
              <a:t>B. Without real data (less common)</a:t>
            </a:r>
          </a:p>
          <a:p>
            <a:pPr lvl="1"/>
            <a:r>
              <a:rPr lang="en-US">
                <a:ea typeface="+mn-lt"/>
                <a:cs typeface="+mn-lt"/>
              </a:rPr>
              <a:t>Use: </a:t>
            </a:r>
            <a:endParaRPr lang="en-US"/>
          </a:p>
          <a:p>
            <a:pPr lvl="3"/>
            <a:r>
              <a:rPr lang="en-US">
                <a:ea typeface="+mn-lt"/>
                <a:cs typeface="+mn-lt"/>
              </a:rPr>
              <a:t>medical knowledge </a:t>
            </a:r>
            <a:endParaRPr lang="en-US"/>
          </a:p>
          <a:p>
            <a:pPr lvl="3"/>
            <a:r>
              <a:rPr lang="en-US">
                <a:ea typeface="+mn-lt"/>
                <a:cs typeface="+mn-lt"/>
              </a:rPr>
              <a:t>public statistics </a:t>
            </a:r>
            <a:endParaRPr lang="en-US"/>
          </a:p>
          <a:p>
            <a:pPr lvl="3"/>
            <a:r>
              <a:rPr lang="en-US">
                <a:ea typeface="+mn-lt"/>
                <a:cs typeface="+mn-lt"/>
              </a:rPr>
              <a:t>clinical guidelines </a:t>
            </a:r>
          </a:p>
          <a:p>
            <a:pPr lvl="2"/>
            <a:r>
              <a:rPr lang="en-US">
                <a:ea typeface="+mn-lt"/>
                <a:cs typeface="+mn-lt"/>
              </a:rPr>
              <a:t>This avoids privacy risks but may be less accurate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5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C012-DCFC-B2F0-762F-DFC3735E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are people doing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12761-BADE-2EB4-F9A3-E993C09A8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🔐 1. Privacy &amp; compliance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Real patient data is protected (GDPR, HIPAA)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Synthetic data avoids re-identification risks </a:t>
            </a:r>
            <a:endParaRPr lang="en-US"/>
          </a:p>
          <a:p>
            <a:pPr marL="0" indent="0">
              <a:buNone/>
            </a:pPr>
            <a:r>
              <a:rPr lang="en-US"/>
              <a:t>📊 2. Data access problem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Healthcare data is hard to access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Synthetic data enables wider research use </a:t>
            </a:r>
            <a:endParaRPr lang="en-US"/>
          </a:p>
          <a:p>
            <a:pPr marL="0" indent="0">
              <a:buNone/>
            </a:pPr>
            <a:r>
              <a:rPr lang="en-US"/>
              <a:t>🤖 3. AI &amp; ML training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Models need large datasets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Synthetic data helps scale data cheaply </a:t>
            </a:r>
            <a:endParaRPr lang="en-US"/>
          </a:p>
          <a:p>
            <a:pPr marL="0" indent="0">
              <a:buNone/>
            </a:pPr>
            <a:r>
              <a:rPr lang="en-US"/>
              <a:t>️⚖️4. Bias &amp; rare cases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You can simulate rare diseases or edge cases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Improves model robustness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610D-962C-C14B-9067-08309842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D1A0-3593-8A88-1492-B02F87F94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Legal &amp; ethical requirements</a:t>
            </a:r>
          </a:p>
          <a:p>
            <a:pPr lvl="1"/>
            <a:r>
              <a:rPr lang="en-US">
                <a:ea typeface="+mn-lt"/>
                <a:cs typeface="+mn-lt"/>
              </a:rPr>
              <a:t>GDPR compliance (in UK/EU)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Data governance approval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Ethical review boards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Data access permissions </a:t>
            </a:r>
            <a:endParaRPr lang="en-US"/>
          </a:p>
          <a:p>
            <a:r>
              <a:rPr lang="en-US"/>
              <a:t>Technical requirements</a:t>
            </a:r>
          </a:p>
          <a:p>
            <a:pPr lvl="1"/>
            <a:r>
              <a:rPr lang="en-US">
                <a:ea typeface="+mn-lt"/>
                <a:cs typeface="+mn-lt"/>
              </a:rPr>
              <a:t>Clean, structured dataset (EHR, claims, etc.) 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Understanding of: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statistics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machine learning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healthcare domain</a:t>
            </a:r>
          </a:p>
          <a:p>
            <a:r>
              <a:rPr lang="en-US">
                <a:ea typeface="+mn-lt"/>
                <a:cs typeface="+mn-lt"/>
              </a:rPr>
              <a:t>Validation requirements</a:t>
            </a:r>
          </a:p>
          <a:p>
            <a:pPr lvl="1"/>
            <a:r>
              <a:rPr lang="en-US">
                <a:ea typeface="+mn-lt"/>
                <a:cs typeface="+mn-lt"/>
              </a:rPr>
              <a:t>You must prove: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data is realistic (utility) 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data does NOT leak real patients (privacy)</a:t>
            </a:r>
            <a:endParaRPr lang="en-US"/>
          </a:p>
          <a:p>
            <a:pPr lvl="4"/>
            <a:endParaRPr lang="en-US">
              <a:ea typeface="+mn-lt"/>
              <a:cs typeface="+mn-lt"/>
            </a:endParaRPr>
          </a:p>
          <a:p>
            <a:pPr lvl="1"/>
            <a:r>
              <a:rPr lang="en-US">
                <a:ea typeface="+mn-lt"/>
                <a:cs typeface="+mn-lt"/>
              </a:rPr>
              <a:t>👉 This validation step is often harder than generation.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4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1EC6-20E6-85E0-CE63-5DF78866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84434-0904-36C4-CCB2-4ADEFAC6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Synthetic data is powerful—but not perfect:</a:t>
            </a:r>
            <a:br>
              <a:rPr lang="en-US">
                <a:ea typeface="+mn-lt"/>
                <a:cs typeface="+mn-lt"/>
              </a:rPr>
            </a:br>
            <a:endParaRPr lang="en-US"/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 ❌ Can reproduce biases from real data </a:t>
            </a:r>
            <a:endParaRPr lang="en-US"/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 ❌ May miss rare correlations </a:t>
            </a:r>
            <a:endParaRPr lang="en-US"/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 ❌ Risk of “data leakage” if poorly generated </a:t>
            </a:r>
            <a:endParaRPr lang="en-US"/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 ❌ Needs strong validation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8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B906-7245-0C33-5EFF-BFC6A84C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and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E8A7-FFF9-0AF0-4C25-6C379EB0F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Engineering &amp; Preprocessing</a:t>
            </a:r>
            <a:endParaRPr lang="en-US"/>
          </a:p>
          <a:p>
            <a:pPr marL="800100" lvl="1" indent="-342900"/>
            <a:r>
              <a:rPr lang="en-US">
                <a:ea typeface="+mn-lt"/>
                <a:cs typeface="+mn-lt"/>
              </a:rPr>
              <a:t>Python</a:t>
            </a:r>
          </a:p>
          <a:p>
            <a:pPr marL="800100" lvl="1" indent="-342900"/>
            <a:r>
              <a:rPr lang="en-US">
                <a:ea typeface="+mn-lt"/>
                <a:cs typeface="+mn-lt"/>
              </a:rPr>
              <a:t>Pandas &amp; NumPy </a:t>
            </a:r>
          </a:p>
          <a:p>
            <a:pPr marL="800100" lvl="1" indent="-342900"/>
            <a:r>
              <a:rPr lang="en-US">
                <a:ea typeface="+mn-lt"/>
                <a:cs typeface="+mn-lt"/>
              </a:rPr>
              <a:t>SQL / Apache Spark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Synthetic Data Generation Engine</a:t>
            </a:r>
            <a:endParaRPr lang="en-US"/>
          </a:p>
          <a:p>
            <a:pPr marL="800100" lvl="1" indent="-342900"/>
            <a:r>
              <a:rPr lang="en-US">
                <a:ea typeface="+mn-lt"/>
                <a:cs typeface="+mn-lt"/>
              </a:rPr>
              <a:t>SDV (Synthetic Data Vault) </a:t>
            </a:r>
            <a:endParaRPr lang="en-US"/>
          </a:p>
          <a:p>
            <a:pPr marL="800100" lvl="1" indent="-342900"/>
            <a:r>
              <a:rPr lang="en-US">
                <a:ea typeface="+mn-lt"/>
                <a:cs typeface="+mn-lt"/>
              </a:rPr>
              <a:t>SDV Metadata API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Machine Learning &amp; Statistical Libraries</a:t>
            </a:r>
            <a:endParaRPr lang="en-US"/>
          </a:p>
          <a:p>
            <a:pPr marL="800100" lvl="1" indent="-342900"/>
            <a:r>
              <a:rPr lang="en-US" err="1">
                <a:ea typeface="+mn-lt"/>
                <a:cs typeface="+mn-lt"/>
              </a:rPr>
              <a:t>PyTorch</a:t>
            </a:r>
            <a:endParaRPr lang="en-US">
              <a:ea typeface="+mn-lt"/>
              <a:cs typeface="+mn-lt"/>
            </a:endParaRPr>
          </a:p>
          <a:p>
            <a:pPr marL="800100" lvl="1" indent="-342900"/>
            <a:r>
              <a:rPr lang="en-US">
                <a:ea typeface="+mn-lt"/>
                <a:cs typeface="+mn-lt"/>
              </a:rPr>
              <a:t>SciPy</a:t>
            </a:r>
            <a:endParaRPr lang="en-US">
              <a:latin typeface="Consolas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Privacy Validation &amp; Analytics</a:t>
            </a:r>
            <a:endParaRPr lang="en-US"/>
          </a:p>
          <a:p>
            <a:pPr marL="800100" lvl="1" indent="-342900"/>
            <a:r>
              <a:rPr lang="en-US">
                <a:ea typeface="+mn-lt"/>
                <a:cs typeface="+mn-lt"/>
              </a:rPr>
              <a:t>Scikit-Learn</a:t>
            </a:r>
            <a:endParaRPr lang="en-US"/>
          </a:p>
          <a:p>
            <a:pPr marL="800100" lvl="1" indent="-342900"/>
            <a:r>
              <a:rPr lang="en-US">
                <a:ea typeface="+mn-lt"/>
                <a:cs typeface="+mn-lt"/>
              </a:rPr>
              <a:t>Matplotlib &amp; Seaborn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3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17AB-7D86-D79C-AE3B-5B0DFFD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4AEA8-A707-E366-0940-D249EC745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355"/>
            <a:ext cx="10515600" cy="44748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b="1">
                <a:ea typeface="+mn-lt"/>
                <a:cs typeface="+mn-lt"/>
              </a:rPr>
              <a:t>Scalable, Privacy-Preserving Multi-Table Synthesis using Hierarchical Copulas (SDV-HMA)</a:t>
            </a:r>
            <a:br>
              <a:rPr lang="en-US">
                <a:ea typeface="+mn-lt"/>
                <a:cs typeface="+mn-lt"/>
              </a:rPr>
            </a:br>
            <a:br>
              <a:rPr lang="en-US">
                <a:ea typeface="+mn-lt"/>
                <a:cs typeface="+mn-lt"/>
              </a:rPr>
            </a:br>
            <a:endParaRPr lang="en-US" b="1">
              <a:ea typeface="+mn-lt"/>
              <a:cs typeface="+mn-lt"/>
            </a:endParaRPr>
          </a:p>
          <a:p>
            <a:pPr lvl="1"/>
            <a:r>
              <a:rPr lang="en-US" b="1">
                <a:ea typeface="+mn-lt"/>
                <a:cs typeface="+mn-lt"/>
              </a:rPr>
              <a:t>Generative Core (SDV </a:t>
            </a:r>
            <a:r>
              <a:rPr lang="en-US" b="1" err="1">
                <a:ea typeface="+mn-lt"/>
                <a:cs typeface="+mn-lt"/>
              </a:rPr>
              <a:t>HMASynthesizer</a:t>
            </a:r>
            <a:r>
              <a:rPr lang="en-US" b="1">
                <a:ea typeface="+mn-lt"/>
                <a:cs typeface="+mn-lt"/>
              </a:rPr>
              <a:t>):</a:t>
            </a:r>
            <a:r>
              <a:rPr lang="en-US">
                <a:ea typeface="+mn-lt"/>
                <a:cs typeface="+mn-lt"/>
              </a:rPr>
              <a:t> Employs the Hierarchical Modeling Algorithm (HMA) designed specifically for relational multi-table schemas. 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Why HMA over Flat GANs?</a:t>
            </a:r>
            <a:r>
              <a:rPr lang="en-US">
                <a:ea typeface="+mn-lt"/>
                <a:cs typeface="+mn-lt"/>
              </a:rPr>
              <a:t> Avoids sparse high-dimensional flattening. It estimates parent distributions first, then conditionally samples child event volumes and characteristics. 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Relational Schema Preservation:</a:t>
            </a:r>
            <a:r>
              <a:rPr lang="en-US">
                <a:ea typeface="+mn-lt"/>
                <a:cs typeface="+mn-lt"/>
              </a:rPr>
              <a:t> Uses the SDV Metadata API to enforce 1-to-many parent-child foreign key integrity (</a:t>
            </a:r>
            <a:r>
              <a:rPr lang="en-US" err="1">
                <a:latin typeface="Consolas"/>
                <a:ea typeface="+mn-lt"/>
                <a:cs typeface="+mn-lt"/>
              </a:rPr>
              <a:t>SRPatient</a:t>
            </a:r>
            <a:r>
              <a:rPr lang="en-US">
                <a:ea typeface="+mn-lt"/>
                <a:cs typeface="+mn-lt"/>
              </a:rPr>
              <a:t> - &gt; </a:t>
            </a:r>
            <a:r>
              <a:rPr lang="en-US" err="1">
                <a:latin typeface="Consolas"/>
                <a:ea typeface="+mn-lt"/>
                <a:cs typeface="+mn-lt"/>
              </a:rPr>
              <a:t>SRCode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  <a:ea typeface="+mn-lt"/>
                <a:cs typeface="+mn-lt"/>
              </a:rPr>
              <a:t>SRPrimaryCareMedication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  <a:ea typeface="+mn-lt"/>
                <a:cs typeface="+mn-lt"/>
              </a:rPr>
              <a:t>SRImmunisation</a:t>
            </a:r>
            <a:r>
              <a:rPr lang="en-US">
                <a:ea typeface="+mn-lt"/>
                <a:cs typeface="+mn-lt"/>
              </a:rPr>
              <a:t>). 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339147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1DB3-2B02-2A6C-98AE-20B2EF48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 Architecture –LLR-</a:t>
            </a:r>
            <a:r>
              <a:rPr lang="en-US" err="1"/>
              <a:t>DfR</a:t>
            </a:r>
            <a:endParaRPr lang="en-US" i="0" err="1"/>
          </a:p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19D5D6-CB72-8708-6A30-CD1E9C940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960" y="1218289"/>
            <a:ext cx="11358880" cy="563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9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0A09-6F72-9C84-64EE-F6DA20C5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>
                <a:ea typeface="+mj-lt"/>
                <a:cs typeface="+mj-lt"/>
              </a:rPr>
              <a:t>The 5-Stage Synthesis Pipeline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21E0-3B07-985D-CEDF-7F504C6AA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270"/>
            <a:ext cx="10515600" cy="505821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1. Out-of-Core Preprocessing</a:t>
            </a:r>
            <a:endParaRPr lang="en-US" b="1"/>
          </a:p>
          <a:p>
            <a:pPr lvl="1"/>
            <a:r>
              <a:rPr lang="en-US">
                <a:ea typeface="+mn-lt"/>
                <a:cs typeface="+mn-lt"/>
              </a:rPr>
              <a:t>Streaming Ingestion: 1M row chunk iterators prevent out-of-memory (OOM) failures.</a:t>
            </a:r>
          </a:p>
          <a:p>
            <a:pPr lvl="1"/>
            <a:r>
              <a:rPr lang="en-US">
                <a:ea typeface="+mn-lt"/>
                <a:cs typeface="+mn-lt"/>
              </a:rPr>
              <a:t>Temporal Anonymization: Extracts 4-digit years and converts dates to integer ages (AgeIn2026, </a:t>
            </a:r>
            <a:r>
              <a:rPr lang="en-US" err="1">
                <a:ea typeface="+mn-lt"/>
                <a:cs typeface="+mn-lt"/>
              </a:rPr>
              <a:t>AgeAtEvent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Privacy Protection: Strips raw absolute timestamps to remove exact re-identification vectors.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2. Utilization Features &amp; Stratification</a:t>
            </a:r>
          </a:p>
          <a:p>
            <a:pPr lvl="1"/>
            <a:r>
              <a:rPr lang="en-US">
                <a:ea typeface="+mn-lt"/>
                <a:cs typeface="+mn-lt"/>
              </a:rPr>
              <a:t>Utilization Feature: Computes log(1 + count) to engineer the </a:t>
            </a:r>
            <a:r>
              <a:rPr lang="en-US" err="1">
                <a:ea typeface="+mn-lt"/>
                <a:cs typeface="+mn-lt"/>
              </a:rPr>
              <a:t>DiseaseMedRatio</a:t>
            </a:r>
            <a:r>
              <a:rPr lang="en-US">
                <a:ea typeface="+mn-lt"/>
                <a:cs typeface="+mn-lt"/>
              </a:rPr>
              <a:t> metric.</a:t>
            </a:r>
          </a:p>
          <a:p>
            <a:pPr lvl="1"/>
            <a:r>
              <a:rPr lang="en-US">
                <a:ea typeface="+mn-lt"/>
                <a:cs typeface="+mn-lt"/>
              </a:rPr>
              <a:t>Composite Stratification: Bins by Gender x </a:t>
            </a:r>
            <a:r>
              <a:rPr lang="en-US" err="1">
                <a:ea typeface="+mn-lt"/>
                <a:cs typeface="+mn-lt"/>
              </a:rPr>
              <a:t>AgeGroup</a:t>
            </a:r>
            <a:r>
              <a:rPr lang="en-US">
                <a:ea typeface="+mn-lt"/>
                <a:cs typeface="+mn-lt"/>
              </a:rPr>
              <a:t> x </a:t>
            </a:r>
            <a:r>
              <a:rPr lang="en-US" err="1">
                <a:ea typeface="+mn-lt"/>
                <a:cs typeface="+mn-lt"/>
              </a:rPr>
              <a:t>UtilGroup</a:t>
            </a:r>
            <a:r>
              <a:rPr lang="en-US">
                <a:ea typeface="+mn-lt"/>
                <a:cs typeface="+mn-lt"/>
              </a:rPr>
              <a:t> to preserve rare cohorts.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Balanced Cohort: Extracts a representative 3% stratified training fraction (~15k patients).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3. Relational Modeling (SDV HMA)</a:t>
            </a:r>
          </a:p>
          <a:p>
            <a:pPr lvl="1"/>
            <a:r>
              <a:rPr lang="en-US">
                <a:ea typeface="+mn-lt"/>
                <a:cs typeface="+mn-lt"/>
              </a:rPr>
              <a:t>Metadata Configuration: Sets </a:t>
            </a:r>
            <a:r>
              <a:rPr lang="en-US" err="1">
                <a:ea typeface="+mn-lt"/>
                <a:cs typeface="+mn-lt"/>
              </a:rPr>
              <a:t>MultiTableMetadata</a:t>
            </a:r>
            <a:r>
              <a:rPr lang="en-US">
                <a:ea typeface="+mn-lt"/>
                <a:cs typeface="+mn-lt"/>
              </a:rPr>
              <a:t> with automated primary-foreign key bindings.</a:t>
            </a:r>
            <a:endParaRPr lang="en-US" b="1">
              <a:ea typeface="+mn-lt"/>
              <a:cs typeface="+mn-lt"/>
            </a:endParaRPr>
          </a:p>
          <a:p>
            <a:pPr lvl="1"/>
            <a:r>
              <a:rPr lang="en-US">
                <a:ea typeface="+mn-lt"/>
                <a:cs typeface="+mn-lt"/>
              </a:rPr>
              <a:t>Chronological Constraints: Enforces </a:t>
            </a:r>
            <a:r>
              <a:rPr lang="en-US" err="1">
                <a:ea typeface="+mn-lt"/>
                <a:cs typeface="+mn-lt"/>
              </a:rPr>
              <a:t>AgeAtMedicationStart</a:t>
            </a:r>
            <a:r>
              <a:rPr lang="en-US">
                <a:ea typeface="+mn-lt"/>
                <a:cs typeface="+mn-lt"/>
              </a:rPr>
              <a:t> &lt;= </a:t>
            </a:r>
            <a:r>
              <a:rPr lang="en-US" err="1">
                <a:ea typeface="+mn-lt"/>
                <a:cs typeface="+mn-lt"/>
              </a:rPr>
              <a:t>AgeAtMedicationEnd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Copula Model Fitting: Trains and serializes </a:t>
            </a:r>
            <a:r>
              <a:rPr lang="en-US" err="1">
                <a:ea typeface="+mn-lt"/>
                <a:cs typeface="+mn-lt"/>
              </a:rPr>
              <a:t>HMASynthesizer</a:t>
            </a:r>
            <a:r>
              <a:rPr lang="en-US">
                <a:ea typeface="+mn-lt"/>
                <a:cs typeface="+mn-lt"/>
              </a:rPr>
              <a:t> to disk.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4 &amp; 5 . Scaled Generation &amp; Guardrails</a:t>
            </a:r>
          </a:p>
          <a:p>
            <a:pPr lvl="1"/>
            <a:r>
              <a:rPr lang="en-US">
                <a:ea typeface="+mn-lt"/>
                <a:cs typeface="+mn-lt"/>
              </a:rPr>
              <a:t>Modular Sampling: Generates batches using sample scaling to achieve the 500k target.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Sex-Exclusive Rules: Dynamically blocks cross-gender code leaks using learned SNOMED lists.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Biological Filters: Regex keyword suppression on medication text descriptions.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Post-Mortem &amp; Tail Filters: Drops records post-</a:t>
            </a:r>
            <a:r>
              <a:rPr lang="en-US" err="1">
                <a:ea typeface="+mn-lt"/>
                <a:cs typeface="+mn-lt"/>
              </a:rPr>
              <a:t>AgeAtDeath</a:t>
            </a:r>
            <a:r>
              <a:rPr lang="en-US">
                <a:ea typeface="+mn-lt"/>
                <a:cs typeface="+mn-lt"/>
              </a:rPr>
              <a:t> and suppresses ultra-rare noise codes.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78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63DDD-0891-99C8-419F-8165F3BDA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576"/>
          </a:xfrm>
        </p:spPr>
        <p:txBody>
          <a:bodyPr/>
          <a:lstStyle/>
          <a:p>
            <a:r>
              <a:rPr lang="en-US"/>
              <a:t>Synthetic Data Evaluation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884B9-10A0-68D6-F53D-A7FD96A5C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903"/>
            <a:ext cx="10515600" cy="57310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400">
                <a:ea typeface="+mn-lt"/>
                <a:cs typeface="+mn-lt"/>
              </a:rPr>
              <a:t>Evaluating relational synthetic EHR data requires measuring three core pillars: Statistical Fidelity, Clinical &amp; Relational Utility, and Privacy &amp; Disclosure Risk.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1. Statistical Fidelity &amp; Distribution Parity:</a:t>
            </a:r>
            <a:r>
              <a:rPr lang="en-US" sz="1400">
                <a:ea typeface="+mn-lt"/>
                <a:cs typeface="+mn-lt"/>
              </a:rPr>
              <a:t> Evaluates whether generative copulas accurately capture shapes, variances, and correlations of the patient population without distributional distortion.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 </a:t>
            </a:r>
            <a:r>
              <a:rPr lang="en-US" sz="1400" b="1">
                <a:ea typeface="+mn-lt"/>
                <a:cs typeface="+mn-lt"/>
              </a:rPr>
              <a:t>  • Kolmogorov-Smirnov (KS) Complement Tests &amp; Wasserstein Distance</a:t>
            </a:r>
            <a:endParaRPr lang="en-US" b="1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Spearman Rank Correlation &amp; Covariance Matrix Parity</a:t>
            </a:r>
            <a:endParaRPr lang="en-US" b="1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Top-K Clinical Code Prevalence &amp; Tail Frequency Parity</a:t>
            </a:r>
            <a:endParaRPr lang="en-US" b="1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2. Relational &amp; Clinical Plausibility (Utility): </a:t>
            </a:r>
            <a:r>
              <a:rPr lang="en-US" sz="1400">
                <a:ea typeface="+mn-lt"/>
                <a:cs typeface="+mn-lt"/>
              </a:rPr>
              <a:t>Audits whether synthetic records adhere to the biological, temporal, and structural realities of healthcare delivery.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   •</a:t>
            </a:r>
            <a:r>
              <a:rPr lang="en-US" sz="1400" b="1">
                <a:ea typeface="+mn-lt"/>
                <a:cs typeface="+mn-lt"/>
              </a:rPr>
              <a:t> Marginal &amp; Subgroup Query Parity (Gender ratios, Mean Age offset Δ)</a:t>
            </a:r>
            <a:endParaRPr lang="en-US" b="1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Biological Sex Inconsistency Rate (Sex-exclusive SNOMED &amp; Rx leaks = 0)</a:t>
            </a:r>
            <a:endParaRPr lang="en-US" b="1"/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Post-Mortem Event Violation Rate (</a:t>
            </a:r>
            <a:r>
              <a:rPr lang="en-US" sz="1400" b="1" err="1">
                <a:ea typeface="+mn-lt"/>
                <a:cs typeface="+mn-lt"/>
              </a:rPr>
              <a:t>EventAge</a:t>
            </a:r>
            <a:r>
              <a:rPr lang="en-US" sz="1400" b="1">
                <a:ea typeface="+mn-lt"/>
                <a:cs typeface="+mn-lt"/>
              </a:rPr>
              <a:t> &gt; </a:t>
            </a:r>
            <a:r>
              <a:rPr lang="en-US" sz="1400" b="1" err="1">
                <a:ea typeface="+mn-lt"/>
                <a:cs typeface="+mn-lt"/>
              </a:rPr>
              <a:t>AgeAtDeath</a:t>
            </a:r>
            <a:r>
              <a:rPr lang="en-US" sz="1400" b="1">
                <a:ea typeface="+mn-lt"/>
                <a:cs typeface="+mn-lt"/>
              </a:rPr>
              <a:t> = 0)</a:t>
            </a:r>
            <a:endParaRPr lang="en-US" b="1"/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Child-to-Parent Event Densities (Prescriptions/diagnoses per patient)</a:t>
            </a:r>
            <a:endParaRPr lang="en-US" b="1"/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3. Privacy &amp; Re-Identification Risk:</a:t>
            </a:r>
            <a:r>
              <a:rPr lang="en-US" sz="1400">
                <a:ea typeface="+mn-lt"/>
                <a:cs typeface="+mn-lt"/>
              </a:rPr>
              <a:t> Empirically quantifies identity and membership disclosure risks in normalized feature space.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  </a:t>
            </a:r>
            <a:r>
              <a:rPr lang="en-US" sz="1400" b="1">
                <a:ea typeface="+mn-lt"/>
                <a:cs typeface="+mn-lt"/>
              </a:rPr>
              <a:t> • Distance to Closest Record (DCR) distribution</a:t>
            </a:r>
            <a:endParaRPr lang="en-US" b="1"/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   • Exact Demographic Clone Rate (0-tolerance profile collision check)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   • Pipeline-Aligned Membership Inference Attack (MIA) Distance Ratio (Target ≈ 1.0)</a:t>
            </a:r>
            <a:endParaRPr lang="en-US" b="1">
              <a:ea typeface="+mn-lt"/>
              <a:cs typeface="+mn-lt"/>
            </a:endParaRP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8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D204-DEC7-0044-CD69-C56D940D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DP-HALO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1B92-9130-C925-BEF8-88EA9B21E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1. Longitudinal Trajectory Modeling:</a:t>
            </a:r>
            <a:r>
              <a:rPr lang="en-US" dirty="0">
                <a:ea typeface="+mn-lt"/>
                <a:cs typeface="+mn-lt"/>
              </a:rPr>
              <a:t> Extends static relational synthesis by capturing temporal clinical visits and multi-label code co-occurrences (SNOMED, medications) via a two-tier autoregressive architecture.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Inter-Visit Dynamics: Models sequential consultation frequency and disease progression over continuous patient lifetimes.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Intra-Visit Co-Occurrence: Predicts high-dimensional clinical code combinations within individual care encounters.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Formal Mathematical Privacy (DP-SGD): </a:t>
            </a:r>
            <a:r>
              <a:rPr lang="en-US" dirty="0">
                <a:ea typeface="+mn-lt"/>
                <a:cs typeface="+mn-lt"/>
              </a:rPr>
              <a:t>Replaces empirical distance heuristics with provable (Epsilon, Delta)-Differential Privacy bounds embedded directly into model training.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 Per-Sample Gradient Clipping: Enforces L2-norm gradient clipping to strictly bound individual patient influence.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 Calibrated Noise Injection: Adds Gaussian perturbation scaled to predefined privacy loss budgets tracked via Renyi DP. 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3. Active Engineering &amp; Optimization Focus:</a:t>
            </a:r>
            <a:r>
              <a:rPr lang="en-US" dirty="0">
                <a:ea typeface="+mn-lt"/>
                <a:cs typeface="+mn-lt"/>
              </a:rPr>
              <a:t> Resolves clinical healthcare data complexities under strict privacy budgets.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Privacy-Utility Calibration: Fine-tuning Epsilon in range [2.0, 8.0] against downstream mortality and readmission benchmarks.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Code Embedding Sparsity: Mitigates gradient noise distortion across low-prevalence SNOMED and </a:t>
            </a:r>
            <a:r>
              <a:rPr lang="en-US" dirty="0" err="1">
                <a:ea typeface="+mn-lt"/>
                <a:cs typeface="+mn-lt"/>
              </a:rPr>
              <a:t>Multilex</a:t>
            </a:r>
            <a:r>
              <a:rPr lang="en-US" dirty="0">
                <a:ea typeface="+mn-lt"/>
                <a:cs typeface="+mn-lt"/>
              </a:rPr>
              <a:t> vocabularies.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Hybrid Pipeline Architecture: Integrating DP-HALO for deep temporal trajectories with HMA for broad demographic schemas.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65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55FF-33DB-2F1B-9A04-29C990FE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5277"/>
          </a:xfrm>
        </p:spPr>
        <p:txBody>
          <a:bodyPr/>
          <a:lstStyle/>
          <a:p>
            <a:pPr algn="ctr"/>
            <a:r>
              <a:rPr lang="en-US" err="1"/>
              <a:t>MurMur</a:t>
            </a:r>
            <a:r>
              <a:rPr lang="en-US"/>
              <a:t> Evaluation</a:t>
            </a:r>
          </a:p>
        </p:txBody>
      </p:sp>
    </p:spTree>
    <p:extLst>
      <p:ext uri="{BB962C8B-B14F-4D97-AF65-F5344CB8AC3E}">
        <p14:creationId xmlns:p14="http://schemas.microsoft.com/office/powerpoint/2010/main" val="54515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79917-F101-1383-A3E5-CEF02EAB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br>
              <a:rPr lang="en-US"/>
            </a:br>
            <a:r>
              <a:rPr lang="en-US"/>
              <a:t>Statistical Fidelity &amp; Demographic Parity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DDE7-E2CC-FA1C-1FE9-8BC86A472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b="1">
                <a:ea typeface="+mn-lt"/>
                <a:cs typeface="+mn-lt"/>
              </a:rPr>
              <a:t>Age Distribution (Wasserstein Distance: 2.34 years):</a:t>
            </a:r>
            <a:r>
              <a:rPr lang="en-US" sz="1700">
                <a:ea typeface="+mn-lt"/>
                <a:cs typeface="+mn-lt"/>
              </a:rPr>
              <a:t> Synthetic demographic curves closely align with real baseline density curves (KS = 0.1059).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>
                <a:ea typeface="+mn-lt"/>
                <a:cs typeface="+mn-lt"/>
              </a:rPr>
              <a:t>Mortality Alignment (Wasserstein Distance: 4.95 years):</a:t>
            </a:r>
            <a:r>
              <a:rPr lang="en-US" sz="1700">
                <a:ea typeface="+mn-lt"/>
                <a:cs typeface="+mn-lt"/>
              </a:rPr>
              <a:t> Replicates life expectancy and age-at-death mortality patterns.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b="1">
                <a:ea typeface="+mn-lt"/>
                <a:cs typeface="+mn-lt"/>
              </a:rPr>
              <a:t>Gender Parity (TVD = 0.0027):</a:t>
            </a:r>
            <a:r>
              <a:rPr lang="en-US" sz="1700">
                <a:ea typeface="+mn-lt"/>
                <a:cs typeface="+mn-lt"/>
              </a:rPr>
              <a:t> Matches real population proportions (50.8% Female vs. 49.2% Male). 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C27FE-9364-DEC3-4FAE-B9CDE671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186" y="643827"/>
            <a:ext cx="7114827" cy="542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49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6679FC-6513-F49E-9986-FB5D21F12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0064" y="643468"/>
            <a:ext cx="750311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15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DC3EF-B227-0DF4-6422-EC3C48F3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i="0">
                <a:ea typeface="+mj-lt"/>
                <a:cs typeface="+mj-lt"/>
              </a:rPr>
              <a:t>Clinical Vocabulary &amp; Correlation Parity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19DC-3753-E38D-8BD3-52FD3870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High Spearman Rank Correlations (p):</a:t>
            </a:r>
            <a:r>
              <a:rPr lang="en-US" sz="1400">
                <a:ea typeface="+mn-lt"/>
                <a:cs typeface="+mn-lt"/>
              </a:rPr>
              <a:t> Confirms that common primary care diagnoses and treatments maintain their exact relative frequency ranks: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Diagnostic Codes (SNOMED):</a:t>
            </a:r>
            <a:r>
              <a:rPr lang="en-US" sz="1400">
                <a:ea typeface="+mn-lt"/>
                <a:cs typeface="+mn-lt"/>
              </a:rPr>
              <a:t> </a:t>
            </a:r>
            <a:r>
              <a:rPr lang="en-US" sz="1400" b="1">
                <a:ea typeface="+mn-lt"/>
                <a:cs typeface="+mn-lt"/>
              </a:rPr>
              <a:t>p</a:t>
            </a:r>
            <a:r>
              <a:rPr lang="en-US" sz="1400">
                <a:ea typeface="+mn-lt"/>
                <a:cs typeface="+mn-lt"/>
              </a:rPr>
              <a:t> = 0.8261 (Up to 0.8395) 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Medications (</a:t>
            </a:r>
            <a:r>
              <a:rPr lang="en-US" sz="1400" b="1" err="1">
                <a:ea typeface="+mn-lt"/>
                <a:cs typeface="+mn-lt"/>
              </a:rPr>
              <a:t>MultiLex</a:t>
            </a:r>
            <a:r>
              <a:rPr lang="en-US" sz="1400" b="1">
                <a:ea typeface="+mn-lt"/>
                <a:cs typeface="+mn-lt"/>
              </a:rPr>
              <a:t> Product):</a:t>
            </a:r>
            <a:r>
              <a:rPr lang="en-US" sz="1400">
                <a:ea typeface="+mn-lt"/>
                <a:cs typeface="+mn-lt"/>
              </a:rPr>
              <a:t> p = 0.8518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 err="1">
                <a:ea typeface="+mn-lt"/>
                <a:cs typeface="+mn-lt"/>
              </a:rPr>
              <a:t>Immunisations</a:t>
            </a:r>
            <a:r>
              <a:rPr lang="en-US" sz="1400" b="1"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 p= 0.9583</a:t>
            </a:r>
            <a:endParaRPr lang="en-US" sz="1400"/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Parity Scatter Alignment:</a:t>
            </a:r>
            <a:r>
              <a:rPr lang="en-US" sz="1400">
                <a:ea typeface="+mn-lt"/>
                <a:cs typeface="+mn-lt"/>
              </a:rPr>
              <a:t> Top-100 concept prevalence charts demonstrate tight clustering along the ideal 1:1 parity diagonal. </a:t>
            </a:r>
            <a:endParaRPr lang="en-US" sz="1400"/>
          </a:p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C2F36-35ED-A63E-B517-D14021FC3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40" y="1629359"/>
            <a:ext cx="7680960" cy="359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75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61FE09-9D5A-0B4A-A389-DC1C4AB21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568" y="643468"/>
            <a:ext cx="7732987" cy="563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54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CC3D-D0F0-3092-2280-979D5FE5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>
                <a:ea typeface="+mj-lt"/>
                <a:cs typeface="+mj-lt"/>
              </a:rPr>
              <a:t>Clinical Integrity &amp; Plausibility Validation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94A3-E94C-397A-05D0-739748DE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Zero Post-Mortem Events:</a:t>
            </a:r>
            <a:r>
              <a:rPr lang="en-US">
                <a:ea typeface="+mn-lt"/>
                <a:cs typeface="+mn-lt"/>
              </a:rPr>
              <a:t> 100% pass rate (0 violations) where child events occurred after a patient’s recorded death age (</a:t>
            </a:r>
            <a:r>
              <a:rPr lang="en-US" err="1">
                <a:ea typeface="+mn-lt"/>
                <a:cs typeface="+mn-lt"/>
              </a:rPr>
              <a:t>AgeAtEvent</a:t>
            </a:r>
            <a:r>
              <a:rPr lang="en-US">
                <a:ea typeface="+mn-lt"/>
                <a:cs typeface="+mn-lt"/>
              </a:rPr>
              <a:t>&gt; </a:t>
            </a:r>
            <a:r>
              <a:rPr lang="en-US" err="1">
                <a:ea typeface="+mn-lt"/>
                <a:cs typeface="+mn-lt"/>
              </a:rPr>
              <a:t>AgeAtDeath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Biological Sex Consistency:</a:t>
            </a:r>
            <a:r>
              <a:rPr lang="en-US">
                <a:ea typeface="+mn-lt"/>
                <a:cs typeface="+mn-lt"/>
              </a:rPr>
              <a:t> Regex filters prevent impossible diagnoses/treatments (e.g., 0 pregnancy codes in males, 0 prostate codes in females).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Noise &amp; Outlier Pruning:</a:t>
            </a:r>
            <a:r>
              <a:rPr lang="en-US">
                <a:ea typeface="+mn-lt"/>
                <a:cs typeface="+mn-lt"/>
              </a:rPr>
              <a:t> Suppressing rare concepts (&lt;20 occurrences) eliminates copula artifacts while preserving high-confidence primary care pathways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1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670C-4741-AFAF-D7AF-7D09C3C9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5"/>
            <a:ext cx="10515600" cy="1264603"/>
          </a:xfrm>
        </p:spPr>
        <p:txBody>
          <a:bodyPr/>
          <a:lstStyle/>
          <a:p>
            <a:r>
              <a:rPr lang="en-US" i="0">
                <a:ea typeface="+mj-lt"/>
                <a:cs typeface="+mj-lt"/>
              </a:rPr>
              <a:t>Multi-Variable Contingency &amp; Subgroup Query Parity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758E-842C-A604-F9F9-7B7153A7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725" y="1716405"/>
            <a:ext cx="10410825" cy="67513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0099E97-16EF-C364-B854-62D341654F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2038680"/>
              </p:ext>
            </p:extLst>
          </p:nvPr>
        </p:nvGraphicFramePr>
        <p:xfrm>
          <a:off x="741123" y="1440492"/>
          <a:ext cx="10346420" cy="535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465">
                  <a:extLst>
                    <a:ext uri="{9D8B030D-6E8A-4147-A177-3AD203B41FA5}">
                      <a16:colId xmlns:a16="http://schemas.microsoft.com/office/drawing/2014/main" val="3221891627"/>
                    </a:ext>
                  </a:extLst>
                </a:gridCol>
                <a:gridCol w="1393749">
                  <a:extLst>
                    <a:ext uri="{9D8B030D-6E8A-4147-A177-3AD203B41FA5}">
                      <a16:colId xmlns:a16="http://schemas.microsoft.com/office/drawing/2014/main" val="4210109971"/>
                    </a:ext>
                  </a:extLst>
                </a:gridCol>
                <a:gridCol w="1169826">
                  <a:extLst>
                    <a:ext uri="{9D8B030D-6E8A-4147-A177-3AD203B41FA5}">
                      <a16:colId xmlns:a16="http://schemas.microsoft.com/office/drawing/2014/main" val="1691122898"/>
                    </a:ext>
                  </a:extLst>
                </a:gridCol>
                <a:gridCol w="1342380">
                  <a:extLst>
                    <a:ext uri="{9D8B030D-6E8A-4147-A177-3AD203B41FA5}">
                      <a16:colId xmlns:a16="http://schemas.microsoft.com/office/drawing/2014/main" val="1904613941"/>
                    </a:ext>
                  </a:extLst>
                </a:gridCol>
              </a:tblGrid>
              <a:tr h="9924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Real </a:t>
                      </a:r>
                      <a:r>
                        <a:rPr lang="en-US" sz="1800" u="none" strike="noStrike" noProof="0" err="1">
                          <a:solidFill>
                            <a:srgbClr val="FFFFFF"/>
                          </a:solidFill>
                        </a:rPr>
                        <a:t>MurMur</a:t>
                      </a: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 Data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Real LLR-</a:t>
                      </a:r>
                      <a:r>
                        <a:rPr lang="en-US" err="1"/>
                        <a:t>DfR</a:t>
                      </a:r>
                      <a:r>
                        <a:rPr lang="en-US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Synthetic </a:t>
                      </a:r>
                      <a:r>
                        <a:rPr lang="en-US" sz="1800" u="none" strike="noStrike" noProof="0" err="1">
                          <a:solidFill>
                            <a:srgbClr val="FFFFFF"/>
                          </a:solidFill>
                        </a:rPr>
                        <a:t>MurMur</a:t>
                      </a:r>
                      <a:r>
                        <a:rPr lang="en-US" sz="1800" u="none" strike="noStrike" noProof="0">
                          <a:solidFill>
                            <a:srgbClr val="FFFFFF"/>
                          </a:solidFill>
                        </a:rPr>
                        <a:t> Data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12106"/>
                  </a:ext>
                </a:extLst>
              </a:tr>
              <a:tr h="3074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Total patients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192149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564741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192024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200839"/>
                  </a:ext>
                </a:extLst>
              </a:tr>
              <a:tr h="3074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Female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97521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291930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97515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13521"/>
                  </a:ext>
                </a:extLst>
              </a:tr>
              <a:tr h="30740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Male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 94618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272776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94452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752868"/>
                  </a:ext>
                </a:extLst>
              </a:tr>
              <a:tr h="368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Patients with </a:t>
                      </a:r>
                      <a:r>
                        <a:rPr lang="en-US" err="1"/>
                        <a:t>snomed</a:t>
                      </a:r>
                      <a:r>
                        <a:rPr lang="en-US"/>
                        <a:t> code= </a:t>
                      </a:r>
                      <a:r>
                        <a:rPr lang="en-US" sz="1800" u="none" strike="noStrike" noProof="0"/>
                        <a:t>26929004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3523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5730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9216"/>
                  </a:ext>
                </a:extLst>
              </a:tr>
              <a:tr h="5357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Patients with 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Medication code =</a:t>
                      </a:r>
                      <a:r>
                        <a:rPr lang="en-US" sz="1800" u="none" strike="noStrike" noProof="0"/>
                        <a:t>chamomile extract 10.5% ointment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51804"/>
                  </a:ext>
                </a:extLst>
              </a:tr>
              <a:tr h="368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Patinets</a:t>
                      </a:r>
                      <a:r>
                        <a:rPr lang="en-US"/>
                        <a:t> with </a:t>
                      </a:r>
                      <a:r>
                        <a:rPr lang="en-US" err="1"/>
                        <a:t>snomed</a:t>
                      </a:r>
                      <a:r>
                        <a:rPr lang="en-US"/>
                        <a:t> code= </a:t>
                      </a:r>
                      <a:r>
                        <a:rPr lang="en-US" sz="1800" u="none" strike="noStrike" noProof="0"/>
                        <a:t>26929004 and Sex= Male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2676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107395"/>
                  </a:ext>
                </a:extLst>
              </a:tr>
              <a:tr h="53577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noProof="0" err="1">
                          <a:solidFill>
                            <a:srgbClr val="000000"/>
                          </a:solidFill>
                        </a:rPr>
                        <a:t>Patinets</a:t>
                      </a: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 with </a:t>
                      </a:r>
                      <a:r>
                        <a:rPr lang="en-US" sz="1800" u="none" strike="noStrike" noProof="0" err="1">
                          <a:solidFill>
                            <a:srgbClr val="000000"/>
                          </a:solidFill>
                        </a:rPr>
                        <a:t>snomed</a:t>
                      </a: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</a:rPr>
                        <a:t> code= 26929004 and Sex= Female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2136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3049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1811"/>
                  </a:ext>
                </a:extLst>
              </a:tr>
              <a:tr h="5269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Patient with </a:t>
                      </a:r>
                      <a:r>
                        <a:rPr lang="en-US" err="1"/>
                        <a:t>snomed</a:t>
                      </a:r>
                      <a:r>
                        <a:rPr lang="en-US"/>
                        <a:t> code =</a:t>
                      </a:r>
                      <a:r>
                        <a:rPr lang="en-US" sz="1800" b="0" i="0" u="none" strike="noStrike" noProof="0">
                          <a:latin typeface="Century Gothic"/>
                        </a:rPr>
                        <a:t>46635009 and Sex = Male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862870"/>
                  </a:ext>
                </a:extLst>
              </a:tr>
              <a:tr h="5269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entury Gothic"/>
                        </a:rPr>
                        <a:t>Patient with </a:t>
                      </a:r>
                      <a:r>
                        <a:rPr lang="en-US" sz="1800" b="0" i="0" u="none" strike="noStrike" noProof="0" err="1">
                          <a:latin typeface="Century Gothic"/>
                        </a:rPr>
                        <a:t>snomed</a:t>
                      </a:r>
                      <a:r>
                        <a:rPr lang="en-US" sz="1800" b="0" i="0" u="none" strike="noStrike" noProof="0">
                          <a:latin typeface="Century Gothic"/>
                        </a:rPr>
                        <a:t> code = </a:t>
                      </a:r>
                      <a:r>
                        <a:rPr lang="en-US" sz="1800" b="0" i="0" u="none" strike="noStrike" noProof="0"/>
                        <a:t>46635009 and Sex = Female</a:t>
                      </a:r>
                      <a:endParaRPr lang="en-US" sz="1800" b="0" i="0" u="none" strike="noStrike" noProof="0">
                        <a:latin typeface="Century Gothi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4624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709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125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85DE-AC00-0091-AC7B-79E11C19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Re-Identification Risk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5BE1-12AA-111A-2DE8-5F8D52F36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Evaluating patient re-identification risk in synthetic health data relies on three standard statistical and distance-based methodologies: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1. Identity Disclosure &amp; Exact Match Detection (DCR = 0):</a:t>
            </a: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Measures whether any synthetic record identically replicates the exact multidimensional feature vector (e.g., demographics + full clinical event volume) of a real patient.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Near-zero or zero exact matches confirm that direct replication has been avoided.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2. Distance to Closest Record (DCR) &amp; 5th Percentile Boundary (DCR_5%):</a:t>
            </a: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Computes the Manhattan (L_1) or Euclidean distance from each synthetic patient to their nearest real counterpart in normalized feature space. 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5th percentile (DCR_5%) checks the tail: if (DCR_5%) is sufficiently large, the model has generalized rather than overfitted/memorized real outlier profiles.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3. Membership Inference Advantage (MIA):</a:t>
            </a: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Compares the distance from synthetic records to the </a:t>
            </a:r>
            <a:r>
              <a:rPr lang="en-US" b="1">
                <a:ea typeface="+mn-lt"/>
                <a:cs typeface="+mn-lt"/>
              </a:rPr>
              <a:t>training cohort</a:t>
            </a:r>
            <a:r>
              <a:rPr lang="en-US">
                <a:ea typeface="+mn-lt"/>
                <a:cs typeface="+mn-lt"/>
              </a:rPr>
              <a:t> (</a:t>
            </a:r>
            <a:r>
              <a:rPr lang="en-US" err="1">
                <a:ea typeface="+mn-lt"/>
                <a:cs typeface="+mn-lt"/>
              </a:rPr>
              <a:t>DCR_train</a:t>
            </a:r>
            <a:r>
              <a:rPr lang="en-US">
                <a:ea typeface="+mn-lt"/>
                <a:cs typeface="+mn-lt"/>
              </a:rPr>
              <a:t>) versus an unseen </a:t>
            </a:r>
            <a:r>
              <a:rPr lang="en-US" b="1">
                <a:ea typeface="+mn-lt"/>
                <a:cs typeface="+mn-lt"/>
              </a:rPr>
              <a:t>holdout cohort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DCR_holdout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MIA = P(</a:t>
            </a:r>
            <a:r>
              <a:rPr lang="en-US" err="1">
                <a:ea typeface="+mn-lt"/>
                <a:cs typeface="+mn-lt"/>
              </a:rPr>
              <a:t>DCR_train</a:t>
            </a:r>
            <a:r>
              <a:rPr lang="en-US">
                <a:ea typeface="+mn-lt"/>
                <a:cs typeface="+mn-lt"/>
              </a:rPr>
              <a:t> &lt; </a:t>
            </a:r>
            <a:r>
              <a:rPr lang="en-US" err="1">
                <a:ea typeface="+mn-lt"/>
                <a:cs typeface="+mn-lt"/>
              </a:rPr>
              <a:t>DCR_holdout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approx</a:t>
            </a:r>
            <a:r>
              <a:rPr lang="en-US">
                <a:ea typeface="+mn-lt"/>
                <a:cs typeface="+mn-lt"/>
              </a:rPr>
              <a:t> 50%, an adversary cannot determine whether a real patient's record was part of the generative model's training set.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59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35CD-5F92-0F43-858C-2BE81B33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>
                <a:ea typeface="+mj-lt"/>
                <a:cs typeface="+mj-lt"/>
              </a:rPr>
              <a:t>Pre-Purge Privacy Inferences (Raw Output)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92211E-4D18-B382-1AA1-BF6A59C31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>
                <a:ea typeface="+mn-lt"/>
                <a:cs typeface="+mn-lt"/>
              </a:rPr>
              <a:t>Heuristic Identical Matches:</a:t>
            </a:r>
            <a:r>
              <a:rPr lang="en-US">
                <a:ea typeface="+mn-lt"/>
                <a:cs typeface="+mn-lt"/>
              </a:rPr>
              <a:t> Raw generative copulas produced 12,451 exact feature clones (6.48%), demonstrating that low-granularity healthy profiles with zero recorded clinical events collapsed into identical demographic buckets.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Absence of Outlier Clearance:</a:t>
            </a:r>
            <a:r>
              <a:rPr lang="en-US">
                <a:ea typeface="+mn-lt"/>
                <a:cs typeface="+mn-lt"/>
              </a:rPr>
              <a:t> A 5th percentile Distance to Closest Record (DCR) of 0.0000 indicates that the nearest 5% tail of the synthetic cohort lacked spatial separation from real training individuals.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Evaluation Bias:</a:t>
            </a:r>
            <a:r>
              <a:rPr lang="en-US">
                <a:ea typeface="+mn-lt"/>
                <a:cs typeface="+mn-lt"/>
              </a:rPr>
              <a:t> The initial Membership Inference Advantage (MIA) of 13.81% was artificially skewed by an unbalanced holdout partition (85% holdout vs. 15% train), where higher point density in the holdout set masked true membership risk.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Overall Status:</a:t>
            </a:r>
            <a:r>
              <a:rPr lang="en-US">
                <a:ea typeface="+mn-lt"/>
                <a:cs typeface="+mn-lt"/>
              </a:rPr>
              <a:t> The initial dataset carried an elevated re-identification risk and was unsuitable for external sharing.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850BD-66A6-5198-4DBF-6FE57386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988"/>
            <a:ext cx="10515600" cy="546245"/>
          </a:xfrm>
        </p:spPr>
        <p:txBody>
          <a:bodyPr>
            <a:normAutofit fontScale="90000"/>
          </a:bodyPr>
          <a:lstStyle/>
          <a:p>
            <a:r>
              <a:rPr lang="en-US" b="1" i="0">
                <a:ea typeface="+mj-lt"/>
                <a:cs typeface="+mj-lt"/>
              </a:rPr>
              <a:t>Post-Purge Privacy Inferences (Cleaned Output)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B1E31-0684-5958-95F7-CFE56BFFF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b="1">
                <a:ea typeface="+mn-lt"/>
                <a:cs typeface="+mn-lt"/>
              </a:rPr>
              <a:t>Total Identity Protection:</a:t>
            </a:r>
            <a:r>
              <a:rPr lang="en-US">
                <a:ea typeface="+mn-lt"/>
                <a:cs typeface="+mn-lt"/>
              </a:rPr>
              <a:t> Nearest-neighbor clone elimination purged all identical profiles, reducing the exact match rate to </a:t>
            </a:r>
            <a:r>
              <a:rPr lang="en-US" b="1">
                <a:ea typeface="+mn-lt"/>
                <a:cs typeface="+mn-lt"/>
              </a:rPr>
              <a:t>0 .0000% </a:t>
            </a:r>
            <a:r>
              <a:rPr lang="en-US">
                <a:ea typeface="+mn-lt"/>
                <a:cs typeface="+mn-lt"/>
              </a:rPr>
              <a:t>across the remaining 179,557 synthetic patient records.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Established Distance Buffer:</a:t>
            </a:r>
            <a:r>
              <a:rPr lang="en-US">
                <a:ea typeface="+mn-lt"/>
                <a:cs typeface="+mn-lt"/>
              </a:rPr>
              <a:t> Raising the 5th percentile DCR to </a:t>
            </a:r>
            <a:r>
              <a:rPr lang="en-US" b="1">
                <a:ea typeface="+mn-lt"/>
                <a:cs typeface="+mn-lt"/>
              </a:rPr>
              <a:t>0.0138</a:t>
            </a:r>
            <a:r>
              <a:rPr lang="en-US">
                <a:ea typeface="+mn-lt"/>
                <a:cs typeface="+mn-lt"/>
              </a:rPr>
              <a:t> confirms that even edge-case synthetic outliers maintain a safe metric buffer from real patient feature vectors.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Absence of Membership Leakage:</a:t>
            </a:r>
            <a:r>
              <a:rPr lang="en-US">
                <a:ea typeface="+mn-lt"/>
                <a:cs typeface="+mn-lt"/>
              </a:rPr>
              <a:t> Testing against an equal-sized partition (</a:t>
            </a:r>
            <a:r>
              <a:rPr lang="en-US" err="1">
                <a:ea typeface="+mn-lt"/>
                <a:cs typeface="+mn-lt"/>
              </a:rPr>
              <a:t>N_train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N_holdout</a:t>
            </a:r>
            <a:r>
              <a:rPr lang="en-US">
                <a:ea typeface="+mn-lt"/>
                <a:cs typeface="+mn-lt"/>
              </a:rPr>
              <a:t>) normalized the balanced MIA to </a:t>
            </a:r>
            <a:r>
              <a:rPr lang="en-US" b="1">
                <a:ea typeface="+mn-lt"/>
                <a:cs typeface="+mn-lt"/>
              </a:rPr>
              <a:t>48.75%</a:t>
            </a:r>
            <a:r>
              <a:rPr lang="en-US">
                <a:ea typeface="+mn-lt"/>
                <a:cs typeface="+mn-lt"/>
              </a:rPr>
              <a:t>, proving synthetic records are equidistant to training and unseen holdout records (matching the theoretical 50.0% random-guess baseline).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Referential Data Integrity:</a:t>
            </a:r>
            <a:r>
              <a:rPr lang="en-US">
                <a:ea typeface="+mn-lt"/>
                <a:cs typeface="+mn-lt"/>
              </a:rPr>
              <a:t> Deletions cascaded across all linked diagnosis, prescription, and </a:t>
            </a:r>
            <a:r>
              <a:rPr lang="en-US" err="1">
                <a:ea typeface="+mn-lt"/>
                <a:cs typeface="+mn-lt"/>
              </a:rPr>
              <a:t>immunisation</a:t>
            </a:r>
            <a:r>
              <a:rPr lang="en-US">
                <a:ea typeface="+mn-lt"/>
                <a:cs typeface="+mn-lt"/>
              </a:rPr>
              <a:t> tables without generating orphaned clinical records.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Overall Status:</a:t>
            </a:r>
            <a:r>
              <a:rPr lang="en-US">
                <a:ea typeface="+mn-lt"/>
                <a:cs typeface="+mn-lt"/>
              </a:rPr>
              <a:t> The post-processed cohort achieved verified </a:t>
            </a:r>
            <a:r>
              <a:rPr lang="en-US" b="1">
                <a:ea typeface="+mn-lt"/>
                <a:cs typeface="+mn-lt"/>
              </a:rPr>
              <a:t>Safe to Release</a:t>
            </a:r>
            <a:r>
              <a:rPr lang="en-US">
                <a:ea typeface="+mn-lt"/>
                <a:cs typeface="+mn-lt"/>
              </a:rPr>
              <a:t> status with zero empirical identity disclosure and robust membership defense.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86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3608F1-01D5-97B5-1BFC-5E0AB5D99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566" y="643467"/>
            <a:ext cx="649686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1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11BA4-9CFD-0C2E-65C3-326B13D1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99D3-6144-F006-65FF-09A33E584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Emerging directions include: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Federated synthetic data generation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Differential privacy integration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Digital twins of patients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Multimodal synthetic healthcare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Synthetic genomic datasets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/>
              <a:t>Foundation models for EHR generation</a:t>
            </a:r>
          </a:p>
        </p:txBody>
      </p:sp>
    </p:spTree>
    <p:extLst>
      <p:ext uri="{BB962C8B-B14F-4D97-AF65-F5344CB8AC3E}">
        <p14:creationId xmlns:p14="http://schemas.microsoft.com/office/powerpoint/2010/main" val="2888064744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8178F76CA76649BB469968865947EA" ma:contentTypeVersion="18" ma:contentTypeDescription="Create a new document." ma:contentTypeScope="" ma:versionID="98a605bd181186a4d7407e5316392820">
  <xsd:schema xmlns:xsd="http://www.w3.org/2001/XMLSchema" xmlns:xs="http://www.w3.org/2001/XMLSchema" xmlns:p="http://schemas.microsoft.com/office/2006/metadata/properties" xmlns:ns2="888e002c-0bda-4cbe-97da-b101710f2be4" xmlns:ns3="8e30f4b7-7077-47f3-9ff8-3024256ba2eb" targetNamespace="http://schemas.microsoft.com/office/2006/metadata/properties" ma:root="true" ma:fieldsID="d9f75d5054790ee538e5bbc05e9d116d" ns2:_="" ns3:_="">
    <xsd:import namespace="888e002c-0bda-4cbe-97da-b101710f2be4"/>
    <xsd:import namespace="8e30f4b7-7077-47f3-9ff8-3024256ba2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e002c-0bda-4cbe-97da-b101710f2b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d023d89-6bf8-49d2-a6ae-99c0c7930f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0f4b7-7077-47f3-9ff8-3024256ba2e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e7de1ce-58d4-4171-846a-ee642894ee7d}" ma:internalName="TaxCatchAll" ma:showField="CatchAllData" ma:web="8e30f4b7-7077-47f3-9ff8-3024256ba2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8e002c-0bda-4cbe-97da-b101710f2be4">
      <Terms xmlns="http://schemas.microsoft.com/office/infopath/2007/PartnerControls"/>
    </lcf76f155ced4ddcb4097134ff3c332f>
    <TaxCatchAll xmlns="8e30f4b7-7077-47f3-9ff8-3024256ba2eb" xsi:nil="true"/>
  </documentManagement>
</p:properties>
</file>

<file path=customXml/itemProps1.xml><?xml version="1.0" encoding="utf-8"?>
<ds:datastoreItem xmlns:ds="http://schemas.openxmlformats.org/officeDocument/2006/customXml" ds:itemID="{61190A68-9A4C-480A-BB25-5AC288A850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AE2D64-AFC0-4C11-8FD0-47B21BCEEB4D}">
  <ds:schemaRefs>
    <ds:schemaRef ds:uri="888e002c-0bda-4cbe-97da-b101710f2be4"/>
    <ds:schemaRef ds:uri="8e30f4b7-7077-47f3-9ff8-3024256ba2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15BBFA-6C01-457E-8CF6-6632ACA0923D}">
  <ds:schemaRefs>
    <ds:schemaRef ds:uri="888e002c-0bda-4cbe-97da-b101710f2be4"/>
    <ds:schemaRef ds:uri="8e30f4b7-7077-47f3-9ff8-3024256ba2e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BrushVTI</vt:lpstr>
      <vt:lpstr>Synthetic Data Generation</vt:lpstr>
      <vt:lpstr>What is Synthetic patient data?</vt:lpstr>
      <vt:lpstr>Ways to generate it?</vt:lpstr>
      <vt:lpstr>Why are people doing this?</vt:lpstr>
      <vt:lpstr>Requirements</vt:lpstr>
      <vt:lpstr>Limitations</vt:lpstr>
      <vt:lpstr>Tools and framework</vt:lpstr>
      <vt:lpstr>Approach</vt:lpstr>
      <vt:lpstr>Workflow Architecture –LLR-DfR </vt:lpstr>
      <vt:lpstr>The 5-Stage Synthesis Pipeline</vt:lpstr>
      <vt:lpstr>Synthetic Data Evaluation Framework</vt:lpstr>
      <vt:lpstr>DP-HALO</vt:lpstr>
      <vt:lpstr>MurMur Evaluation</vt:lpstr>
      <vt:lpstr> Statistical Fidelity &amp; Demographic Parity  </vt:lpstr>
      <vt:lpstr>PowerPoint Presentation</vt:lpstr>
      <vt:lpstr>Clinical Vocabulary &amp; Correlation Parity</vt:lpstr>
      <vt:lpstr>PowerPoint Presentation</vt:lpstr>
      <vt:lpstr>Clinical Integrity &amp; Plausibility Validation</vt:lpstr>
      <vt:lpstr>Multi-Variable Contingency &amp; Subgroup Query Parity</vt:lpstr>
      <vt:lpstr>Re-Identification Risk Evaluation</vt:lpstr>
      <vt:lpstr>Pre-Purge Privacy Inferences (Raw Output)</vt:lpstr>
      <vt:lpstr>Post-Purge Privacy Inferences (Cleaned Output)  </vt:lpstr>
      <vt:lpstr>PowerPoint Presentation</vt:lpstr>
      <vt:lpstr>Future Trends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</cp:revision>
  <dcterms:created xsi:type="dcterms:W3CDTF">2026-05-06T10:35:46Z</dcterms:created>
  <dcterms:modified xsi:type="dcterms:W3CDTF">2026-09-17T05:33:58Z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0x010100B08178F76CA76649BB469968865947EA</vt:lpwstr>
  </property>
  <property fmtid="{D5CDD505-2E9C-101B-9397-08002B2CF9AE}" pid="3" name="MediaServiceImageTags">
    <vt:lpwstr/>
  </property>
</Properties>
</file>